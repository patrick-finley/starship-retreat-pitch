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f4610257274cfc" /><Relationship Type="http://schemas.openxmlformats.org/officeDocument/2006/relationships/extended-properties" Target="/docProps/app.xml" Id="R0579e41163ea4899" /><Relationship Type="http://schemas.openxmlformats.org/officeDocument/2006/relationships/officeDocument" Target="/ppt/presentation.xml" Id="Rd44c01ec3df84c5f" /></Relationships>
</file>

<file path=ppt/presentation.xml><?xml version="1.0" encoding="utf-8"?>
<p:presentation xmlns:p="http://schemas.openxmlformats.org/presentationml/2006/main">
  <p:sldMasterIdLst>
    <p:sldMasterId xmlns:r="http://schemas.openxmlformats.org/officeDocument/2006/relationships" id="2147483648" r:id="R853c4f749a504b78"/>
  </p:sldMasterIdLst>
  <p:notesMasterIdLst>
    <p:notesMasterId xmlns:r="http://schemas.openxmlformats.org/officeDocument/2006/relationships" r:id="R084c8177b3cb48a5"/>
  </p:notesMasterIdLst>
  <p:sldIdLst>
    <p:sldId xmlns:r="http://schemas.openxmlformats.org/officeDocument/2006/relationships" id="256" r:id="Rb64711e68b844572"/>
    <p:sldId xmlns:r="http://schemas.openxmlformats.org/officeDocument/2006/relationships" id="257" r:id="R56b5a240106b4ed0"/>
    <p:sldId xmlns:r="http://schemas.openxmlformats.org/officeDocument/2006/relationships" id="258" r:id="Rdeeeca10940e408a"/>
    <p:sldId xmlns:r="http://schemas.openxmlformats.org/officeDocument/2006/relationships" id="259" r:id="R4b70de48a4b14c75"/>
    <p:sldId xmlns:r="http://schemas.openxmlformats.org/officeDocument/2006/relationships" id="260" r:id="R534da72f0d4746e7"/>
    <p:sldId xmlns:r="http://schemas.openxmlformats.org/officeDocument/2006/relationships" id="261" r:id="Raace885ec3f74543"/>
    <p:sldId xmlns:r="http://schemas.openxmlformats.org/officeDocument/2006/relationships" id="262" r:id="Ra74d026ae2d54518"/>
    <p:sldId xmlns:r="http://schemas.openxmlformats.org/officeDocument/2006/relationships" id="263" r:id="Ra7e0894d81d8480f"/>
    <p:sldId xmlns:r="http://schemas.openxmlformats.org/officeDocument/2006/relationships" id="264" r:id="R8d0d5ac988804f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89da75fa4546a0" /><Relationship Type="http://schemas.openxmlformats.org/officeDocument/2006/relationships/slideMaster" Target="/ppt/slideMasters/slideMaster1.xml" Id="R853c4f749a504b78" /><Relationship Type="http://schemas.openxmlformats.org/officeDocument/2006/relationships/notesMaster" Target="/ppt/notesMasters/notesMaster1.xml" Id="R084c8177b3cb48a5" /><Relationship Type="http://schemas.openxmlformats.org/officeDocument/2006/relationships/presProps" Target="/ppt/presProps.xml" Id="Re1e22b9df492400a" /><Relationship Type="http://schemas.openxmlformats.org/officeDocument/2006/relationships/tableStyles" Target="/ppt/tableStyles.xml" Id="R83ea8131af334824" /><Relationship Type="http://schemas.openxmlformats.org/officeDocument/2006/relationships/slide" Target="/ppt/slides/slide1.xml" Id="Rb64711e68b844572" /><Relationship Type="http://schemas.openxmlformats.org/officeDocument/2006/relationships/slide" Target="/ppt/slides/slide2.xml" Id="R56b5a240106b4ed0" /><Relationship Type="http://schemas.openxmlformats.org/officeDocument/2006/relationships/slide" Target="/ppt/slides/slide3.xml" Id="Rdeeeca10940e408a" /><Relationship Type="http://schemas.openxmlformats.org/officeDocument/2006/relationships/slide" Target="/ppt/slides/slide4.xml" Id="R4b70de48a4b14c75" /><Relationship Type="http://schemas.openxmlformats.org/officeDocument/2006/relationships/slide" Target="/ppt/slides/slide5.xml" Id="R534da72f0d4746e7" /><Relationship Type="http://schemas.openxmlformats.org/officeDocument/2006/relationships/slide" Target="/ppt/slides/slide6.xml" Id="Raace885ec3f74543" /><Relationship Type="http://schemas.openxmlformats.org/officeDocument/2006/relationships/slide" Target="/ppt/slides/slide7.xml" Id="Ra74d026ae2d54518" /><Relationship Type="http://schemas.openxmlformats.org/officeDocument/2006/relationships/slide" Target="/ppt/slides/slide8.xml" Id="Ra7e0894d81d8480f" /><Relationship Type="http://schemas.openxmlformats.org/officeDocument/2006/relationships/slide" Target="/ppt/slides/slide9.xml" Id="R8d0d5ac988804f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6d3fe67a5345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58c7165e5545a6" /><Relationship Type="http://schemas.openxmlformats.org/officeDocument/2006/relationships/notesMaster" Target="/ppt/notesMasters/notesMaster1.xml" Id="R22a5688987d442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ae1f2772c647d1" /><Relationship Type="http://schemas.openxmlformats.org/officeDocument/2006/relationships/notesMaster" Target="/ppt/notesMasters/notesMaster1.xml" Id="Rf2f70a2815c74d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ef1ce50a774bbb" /><Relationship Type="http://schemas.openxmlformats.org/officeDocument/2006/relationships/notesMaster" Target="/ppt/notesMasters/notesMaster1.xml" Id="Re9131e3ec4db44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15dbbf06564a5a" /><Relationship Type="http://schemas.openxmlformats.org/officeDocument/2006/relationships/notesMaster" Target="/ppt/notesMasters/notesMaster1.xml" Id="R7b41cd25c82444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91296a29594605" /><Relationship Type="http://schemas.openxmlformats.org/officeDocument/2006/relationships/notesMaster" Target="/ppt/notesMasters/notesMaster1.xml" Id="R845c0eb9d9f742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3bd0f25ac4429b" /><Relationship Type="http://schemas.openxmlformats.org/officeDocument/2006/relationships/notesMaster" Target="/ppt/notesMasters/notesMaster1.xml" Id="Rb7c6c03fd87f48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26cac679a746c3" /><Relationship Type="http://schemas.openxmlformats.org/officeDocument/2006/relationships/notesMaster" Target="/ppt/notesMasters/notesMaster1.xml" Id="R3029def1d05847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4bbb1857c84145" /><Relationship Type="http://schemas.openxmlformats.org/officeDocument/2006/relationships/notesMaster" Target="/ppt/notesMasters/notesMaster1.xml" Id="R1a63f15fe4f24d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983116f5324ec7" /><Relationship Type="http://schemas.openxmlformats.org/officeDocument/2006/relationships/notesMaster" Target="/ppt/notesMasters/notesMaster1.xml" Id="Rc51ba1d1105842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STOPLINK builds orbital data centers for truck stops. We host the essential infrastructure of the American interstate.</a:t>
            </a:r>
          </a:p>
          <a:p xmlns:a="http://schemas.openxmlformats.org/drawingml/2006/main">
            <a:r>
              <a:t/>
            </a:r>
          </a:p>
          <a:p xmlns:a="http://schemas.openxmlformats.org/drawingml/2006/main">
            <a:r>
              <a:t>*[Dead straight.]*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Specifically, a rewards app. Truck stops buy airline miles from us to reward diesel purchases and keep drivers coming back. Drivers redeem those miles for flights on existing airlines. The app lives in our orbital data center.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A driver buys diesel. The purchase reaches our app in orbit. The app updates their miles balance and lets them book a flight. That is it.</a:t>
            </a:r>
          </a:p>
          <a:p xmlns:a="http://schemas.openxmlformats.org/drawingml/2006/main">
            <a:r>
              <a:t/>
            </a:r>
          </a:p>
          <a:p xmlns:a="http://schemas.openxmlformats.org/drawingml/2006/main">
            <a:r>
              <a:t>**PATRICK:** It is literally just hosting the fucking app. We have made a gas-station rewards database launch-critical.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We sell miles. One hundred percent of our planned revenue. We are not selling compute, and we are not an airline.</a:t>
            </a:r>
          </a:p>
          <a:p xmlns:a="http://schemas.openxmlformats.org/drawingml/2006/main">
            <a:r>
              <a:t/>
            </a:r>
          </a:p>
          <a:p xmlns:a="http://schemas.openxmlformats.org/drawingml/2006/main">
            <a:r>
              <a:t>**PATRICK:** People who drive for a living earn enough points to finally stop fucking driving.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Truck stops pay us for miles. Drivers earn them on fuel and food. When drivers redeem, we buy an actual airline ticket. We keep the difference after rewards and operating costs.</a:t>
            </a:r>
          </a:p>
          <a:p xmlns:a="http://schemas.openxmlformats.org/drawingml/2006/main">
            <a:r>
              <a:t/>
            </a:r>
          </a:p>
          <a:p xmlns:a="http://schemas.openxmlformats.org/drawingml/2006/main">
            <a:r>
              <a:t>**PATRICK:** The first airline with no airplanes. Our fleet has never been late. Our fleet is a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We were worried about AWS, control of our data, and regulators. So we spent six hundred million dollars moving the app to space.</a:t>
            </a:r>
          </a:p>
          <a:p xmlns:a="http://schemas.openxmlformats.org/drawingml/2006/main">
            <a:r>
              <a:t/>
            </a:r>
          </a:p>
          <a:p xmlns:a="http://schemas.openxmlformats.org/drawingml/2006/main">
            <a:r>
              <a:t>**PATRICK:** AWS asked us to pick a region. Nadav selected “away.”</a:t>
            </a:r>
          </a:p>
          <a:p xmlns:a="http://schemas.openxmlformats.org/drawingml/2006/main">
            <a:r>
              <a:t/>
            </a:r>
          </a:p>
          <a:p xmlns:a="http://schemas.openxmlformats.org/drawingml/2006/main">
            <a:r>
              <a:t>**PARKER:** Our lawyer said orbit does not fix the regulatory problem.</a:t>
            </a:r>
          </a:p>
          <a:p xmlns:a="http://schemas.openxmlformats.org/drawingml/2006/main">
            <a:r>
              <a:t/>
            </a:r>
          </a:p>
          <a:p xmlns:a="http://schemas.openxmlformats.org/drawingml/2006/main">
            <a:r>
              <a:t>**PATRICK:** We asked Will how much higher the rocket goes.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**PATRICK:** Nadav and Parker are both Forbes 30 Under 30. I am Patrick, the emergency contact—and the guy in the documentary saying, “Looking back, there were signs.”</a:t>
            </a:r>
          </a:p>
          <a:p xmlns:a="http://schemas.openxmlformats.org/drawingml/2006/main">
            <a:r>
              <a:t/>
            </a:r>
          </a:p>
          <a:p xmlns:a="http://schemas.openxmlformats.org/drawingml/2006/main">
            <a:r>
              <a:t>**PATRICK:** I beat the Starship guys at racing. So I’ve already delivered a loss to Starship. This time I’m asking them to invest in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Will spent twelve years at SpaceX.</a:t>
            </a:r>
          </a:p>
          <a:p xmlns:a="http://schemas.openxmlformats.org/drawingml/2006/main">
            <a:r>
              <a:t/>
            </a:r>
          </a:p>
          <a:p xmlns:a="http://schemas.openxmlformats.org/drawingml/2006/main">
            <a:r>
              <a:t>**PATRICK:** We spent twelve minutes with his headshot. Due diligence complete.</a:t>
            </a:r>
          </a:p>
          <a:p xmlns:a="http://schemas.openxmlformats.org/drawingml/2006/main">
            <a:r>
              <a:t/>
            </a:r>
          </a:p>
          <a:p xmlns:a="http://schemas.openxmlformats.org/drawingml/2006/main">
            <a:r>
              <a:t>*[Pause.]*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Truck stops are the customers. Miles are the product. The orbital data center hosts the app.</a:t>
            </a:r>
          </a:p>
          <a:p xmlns:a="http://schemas.openxmlformats.org/drawingml/2006/main">
            <a:r>
              <a:t/>
            </a:r>
          </a:p>
          <a:p xmlns:a="http://schemas.openxmlformats.org/drawingml/2006/main">
            <a:r>
              <a:t>**NADAV:** Invest in dollars.</a:t>
            </a:r>
          </a:p>
          <a:p xmlns:a="http://schemas.openxmlformats.org/drawingml/2006/main">
            <a:r>
              <a:t/>
            </a:r>
          </a:p>
          <a:p xmlns:a="http://schemas.openxmlformats.org/drawingml/2006/main">
            <a:r>
              <a:t>**PATRICK:** Get returns in miles. Subject to availability.</a:t>
            </a:r>
          </a:p>
          <a:p xmlns:a="http://schemas.openxmlformats.org/drawingml/2006/main">
            <a:r>
              <a:t/>
            </a:r>
          </a:p>
          <a:p xmlns:a="http://schemas.openxmlformats.org/drawingml/2006/main">
            <a:r>
              <a:t>*[Stop.]*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a9a7fc247f4d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92819ba5144d4c" /><Relationship Type="http://schemas.openxmlformats.org/officeDocument/2006/relationships/slideLayout" Target="/ppt/slideLayouts/slideLayout1.xml" Id="Rb8fd57e5345b4f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fd57e5345b4f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f7208ae48d4f20" /><Relationship Type="http://schemas.openxmlformats.org/officeDocument/2006/relationships/image" Target="/ppt/media/image.png" Id="Ra6b1beb50f55414a" /><Relationship Type="http://schemas.openxmlformats.org/officeDocument/2006/relationships/notesSlide" Target="/ppt/notesSlides/notesSlide1.xml" Id="R378d8c0e64ea4a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aaa134f29964b80" /><Relationship Type="http://schemas.openxmlformats.org/officeDocument/2006/relationships/notesSlide" Target="/ppt/notesSlides/notesSlide2.xml" Id="R363488b54f8a48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f49a6b5ee74989" /><Relationship Type="http://schemas.openxmlformats.org/officeDocument/2006/relationships/notesSlide" Target="/ppt/notesSlides/notesSlide3.xml" Id="R1c5059f1886542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dd84e0a62c459e" /><Relationship Type="http://schemas.openxmlformats.org/officeDocument/2006/relationships/notesSlide" Target="/ppt/notesSlides/notesSlide4.xml" Id="R4119be3da3c44e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b285c1774e4882" /><Relationship Type="http://schemas.openxmlformats.org/officeDocument/2006/relationships/notesSlide" Target="/ppt/notesSlides/notesSlide5.xml" Id="R26651d29e52a4e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994daf0a1647e1" /><Relationship Type="http://schemas.openxmlformats.org/officeDocument/2006/relationships/image" Target="/ppt/media/image.jpeg" Id="Rc010eaa277484e79" /><Relationship Type="http://schemas.openxmlformats.org/officeDocument/2006/relationships/notesSlide" Target="/ppt/notesSlides/notesSlide6.xml" Id="R1f2c53dd050d47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8b71a58de84921" /><Relationship Type="http://schemas.openxmlformats.org/officeDocument/2006/relationships/image" Target="/ppt/media/image2.jpeg" Id="Rafa6c387beff43f1" /><Relationship Type="http://schemas.openxmlformats.org/officeDocument/2006/relationships/image" Target="/ppt/media/image2.png" Id="Re0dd83101b1648a7" /><Relationship Type="http://schemas.openxmlformats.org/officeDocument/2006/relationships/image" Target="/ppt/media/image3.png" Id="R0bad8dcb02e3443e" /><Relationship Type="http://schemas.openxmlformats.org/officeDocument/2006/relationships/notesSlide" Target="/ppt/notesSlides/notesSlide7.xml" Id="R7bde00b16ad24e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72185c9d9f343a6" /><Relationship Type="http://schemas.openxmlformats.org/officeDocument/2006/relationships/image" Target="/ppt/media/image4.png" Id="R42749eef408240b8" /><Relationship Type="http://schemas.openxmlformats.org/officeDocument/2006/relationships/notesSlide" Target="/ppt/notesSlides/notesSlide8.xml" Id="R4725dfccfab84d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5eb9c19d29f482a" /><Relationship Type="http://schemas.openxmlformats.org/officeDocument/2006/relationships/notesSlide" Target="/ppt/notesSlides/notesSlide9.xml" Id="Rff97c347e09644ff"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5C5ED8-8FA4-4DE2-B085-54B9A2561DC4}"/>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6b1beb50f55414a"/>
          <a:stretch xmlns:a="http://schemas.openxmlformats.org/drawingml/2006/main"/>
        </p:blipFill>
        <p:spPr>
          <a:xfrm xmlns:a="http://schemas.openxmlformats.org/drawingml/2006/main">
            <a:off x="571500" y="619125"/>
            <a:ext cx="4905375" cy="1635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55AF7B1-E8BD-4AEE-9AA9-62825C28102A}"/>
              </a:ext>
            </a:extLst>
          </p:cNvPr>
          <p:cNvSpPr>
            <a:spLocks xmlns:a="http://schemas.openxmlformats.org/drawingml/2006/main" noGrp="1"/>
          </p:cNvSpPr>
          <p:nvPr/>
        </p:nvSpPr>
        <p:spPr>
          <a:xfrm xmlns:a="http://schemas.openxmlformats.org/drawingml/2006/main">
            <a:off x="609600" y="2619375"/>
            <a:ext cx="109061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Orbital data centers.</a:t>
            </a:r>
          </a:p>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For truck stops.</a:t>
            </a:r>
          </a:p>
        </p:txBody>
      </p:sp>
      <p:sp>
        <p:nvSpPr>
          <p:cNvPr id="4" name="">
            <a:extLst xmlns:a="http://schemas.openxmlformats.org/drawingml/2006/main">
              <a:ext uri="{FF2B5EF4-FFF2-40B4-BE49-F238E27FC236}">
                <a16:creationId xmlns:a16="http://schemas.microsoft.com/office/drawing/2014/main" id="{9C69574D-287D-4754-86D6-138C538164B9}"/>
              </a:ext>
            </a:extLst>
          </p:cNvPr>
          <p:cNvSpPr>
            <a:spLocks xmlns:a="http://schemas.openxmlformats.org/drawingml/2006/main" noGrp="1"/>
          </p:cNvSpPr>
          <p:nvPr/>
        </p:nvSpPr>
        <p:spPr>
          <a:xfrm xmlns:a="http://schemas.openxmlformats.org/drawingml/2006/main">
            <a:off x="685800" y="5400675"/>
            <a:ext cx="552450" cy="552450"/>
          </a:xfrm>
          <a:prstGeom xmlns:a="http://schemas.openxmlformats.org/drawingml/2006/main" prst="rect">
            <a:avLst/>
          </a:prstGeom>
          <a:solidFill xmlns:a="http://schemas.openxmlformats.org/drawingml/2006/main">
            <a:srgbClr val="FF64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4151E6C-CFA4-4793-B4B8-9D2610CA2226}"/>
              </a:ext>
            </a:extLst>
          </p:cNvPr>
          <p:cNvSpPr>
            <a:spLocks xmlns:a="http://schemas.openxmlformats.org/drawingml/2006/main" noGrp="1"/>
          </p:cNvSpPr>
          <p:nvPr/>
        </p:nvSpPr>
        <p:spPr>
          <a:xfrm xmlns:a="http://schemas.openxmlformats.org/drawingml/2006/main">
            <a:off x="809625" y="5438775"/>
            <a:ext cx="43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Y</a:t>
            </a:r>
          </a:p>
        </p:txBody>
      </p:sp>
      <p:sp>
        <p:nvSpPr>
          <p:cNvPr id="6" name="">
            <a:extLst xmlns:a="http://schemas.openxmlformats.org/drawingml/2006/main">
              <a:ext uri="{FF2B5EF4-FFF2-40B4-BE49-F238E27FC236}">
                <a16:creationId xmlns:a16="http://schemas.microsoft.com/office/drawing/2014/main" id="{418B369F-7FBC-4A9F-855C-D05893C6D758}"/>
              </a:ext>
            </a:extLst>
          </p:cNvPr>
          <p:cNvSpPr>
            <a:spLocks xmlns:a="http://schemas.openxmlformats.org/drawingml/2006/main" noGrp="1"/>
          </p:cNvSpPr>
          <p:nvPr/>
        </p:nvSpPr>
        <p:spPr>
          <a:xfrm xmlns:a="http://schemas.openxmlformats.org/drawingml/2006/main">
            <a:off x="1409700" y="54673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SUMMER ’26  /  DECK 1</a:t>
            </a:r>
          </a:p>
        </p:txBody>
      </p:sp>
    </p:spTree>
    <p:extLst>
      <p:ext uri="{BB962C8B-B14F-4D97-AF65-F5344CB8AC3E}">
        <p14:creationId xmlns:p14="http://schemas.microsoft.com/office/powerpoint/2010/main" val="188795919"/>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4EFD94-4B21-4A15-A920-431BE39B695F}"/>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9B57BA40-26EB-4DB1-AA51-9E01865E45A1}"/>
              </a:ext>
            </a:extLst>
          </p:cNvPr>
          <p:cNvSpPr>
            <a:spLocks xmlns:a="http://schemas.openxmlformats.org/drawingml/2006/main" noGrp="1"/>
          </p:cNvSpPr>
          <p:nvPr/>
        </p:nvSpPr>
        <p:spPr>
          <a:xfrm xmlns:a="http://schemas.openxmlformats.org/drawingml/2006/main">
            <a:off x="666750" y="523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WHAT WE DO</a:t>
            </a:r>
          </a:p>
        </p:txBody>
      </p:sp>
      <p:sp>
        <p:nvSpPr>
          <p:cNvPr id="3" name="">
            <a:extLst xmlns:a="http://schemas.openxmlformats.org/drawingml/2006/main">
              <a:ext uri="{FF2B5EF4-FFF2-40B4-BE49-F238E27FC236}">
                <a16:creationId xmlns:a16="http://schemas.microsoft.com/office/drawing/2014/main" id="{34ED816A-0B62-4292-A0E7-BD841220A16A}"/>
              </a:ext>
            </a:extLst>
          </p:cNvPr>
          <p:cNvSpPr>
            <a:spLocks xmlns:a="http://schemas.openxmlformats.org/drawingml/2006/main" noGrp="1"/>
          </p:cNvSpPr>
          <p:nvPr/>
        </p:nvSpPr>
        <p:spPr>
          <a:xfrm xmlns:a="http://schemas.openxmlformats.org/drawingml/2006/main">
            <a:off x="647700" y="1200150"/>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We sell airline miles</a:t>
            </a:r>
          </a:p>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to truck stops.</a:t>
            </a:r>
          </a:p>
        </p:txBody>
      </p:sp>
      <p:sp>
        <p:nvSpPr>
          <p:cNvPr id="4" name="">
            <a:extLst xmlns:a="http://schemas.openxmlformats.org/drawingml/2006/main">
              <a:ext uri="{FF2B5EF4-FFF2-40B4-BE49-F238E27FC236}">
                <a16:creationId xmlns:a16="http://schemas.microsoft.com/office/drawing/2014/main" id="{16271B2A-3988-4278-BF65-8C22BEF6523C}"/>
              </a:ext>
            </a:extLst>
          </p:cNvPr>
          <p:cNvSpPr>
            <a:spLocks xmlns:a="http://schemas.openxmlformats.org/drawingml/2006/main" noGrp="1"/>
          </p:cNvSpPr>
          <p:nvPr/>
        </p:nvSpPr>
        <p:spPr>
          <a:xfrm xmlns:a="http://schemas.openxmlformats.org/drawingml/2006/main">
            <a:off x="723900" y="328612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Truck stops buy miles to reward diesel purchases.</a:t>
            </a:r>
          </a:p>
        </p:txBody>
      </p:sp>
      <p:sp>
        <p:nvSpPr>
          <p:cNvPr id="5" name="">
            <a:extLst xmlns:a="http://schemas.openxmlformats.org/drawingml/2006/main">
              <a:ext uri="{FF2B5EF4-FFF2-40B4-BE49-F238E27FC236}">
                <a16:creationId xmlns:a16="http://schemas.microsoft.com/office/drawing/2014/main" id="{AF7AA71E-EEEE-40B0-A6C6-FF85307AF04A}"/>
              </a:ext>
            </a:extLst>
          </p:cNvPr>
          <p:cNvSpPr>
            <a:spLocks xmlns:a="http://schemas.openxmlformats.org/drawingml/2006/main" noGrp="1"/>
          </p:cNvSpPr>
          <p:nvPr/>
        </p:nvSpPr>
        <p:spPr>
          <a:xfrm xmlns:a="http://schemas.openxmlformats.org/drawingml/2006/main">
            <a:off x="723900" y="400050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Drivers redeem them for flights on existing airlines.</a:t>
            </a:r>
          </a:p>
        </p:txBody>
      </p:sp>
      <p:sp>
        <p:nvSpPr>
          <p:cNvPr id="6" name="">
            <a:extLst xmlns:a="http://schemas.openxmlformats.org/drawingml/2006/main">
              <a:ext uri="{FF2B5EF4-FFF2-40B4-BE49-F238E27FC236}">
                <a16:creationId xmlns:a16="http://schemas.microsoft.com/office/drawing/2014/main" id="{C3301AD8-74E3-4D48-A46E-A41932DDE80F}"/>
              </a:ext>
            </a:extLst>
          </p:cNvPr>
          <p:cNvSpPr>
            <a:spLocks xmlns:a="http://schemas.openxmlformats.org/drawingml/2006/main" noGrp="1"/>
          </p:cNvSpPr>
          <p:nvPr/>
        </p:nvSpPr>
        <p:spPr>
          <a:xfrm xmlns:a="http://schemas.openxmlformats.org/drawingml/2006/main">
            <a:off x="723900" y="524827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6400"/>
                </a:solidFill>
                <a:latin typeface="Arial"/>
                <a:ea typeface="Arial"/>
                <a:cs typeface="Arial"/>
              </a:defRPr>
            </a:pPr>
            <a:r>
              <a:rPr sz="2850" b="1">
                <a:solidFill>
                  <a:srgbClr val="FF6400"/>
                </a:solidFill>
                <a:latin typeface="Arial"/>
                <a:ea typeface="Arial"/>
                <a:cs typeface="Arial"/>
              </a:rPr>
              <a:t>The loyalty app lives in an orbital data center.</a:t>
            </a:r>
          </a:p>
        </p:txBody>
      </p:sp>
    </p:spTree>
    <p:extLst>
      <p:ext uri="{BB962C8B-B14F-4D97-AF65-F5344CB8AC3E}">
        <p14:creationId xmlns:p14="http://schemas.microsoft.com/office/powerpoint/2010/main" val="1834328008"/>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348E1F-4561-48F0-8850-D82697E383BD}"/>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F539F4E7-7CDB-4C13-B684-2A90B1150857}"/>
              </a:ext>
            </a:extLst>
          </p:cNvPr>
          <p:cNvSpPr>
            <a:spLocks xmlns:a="http://schemas.openxmlformats.org/drawingml/2006/main" noGrp="1"/>
          </p:cNvSpPr>
          <p:nvPr/>
        </p:nvSpPr>
        <p:spPr>
          <a:xfrm xmlns:a="http://schemas.openxmlformats.org/drawingml/2006/main">
            <a:off x="666750" y="523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ORBITAL LAYER</a:t>
            </a:r>
          </a:p>
        </p:txBody>
      </p:sp>
      <p:sp>
        <p:nvSpPr>
          <p:cNvPr id="3" name="">
            <a:extLst xmlns:a="http://schemas.openxmlformats.org/drawingml/2006/main">
              <a:ext uri="{FF2B5EF4-FFF2-40B4-BE49-F238E27FC236}">
                <a16:creationId xmlns:a16="http://schemas.microsoft.com/office/drawing/2014/main" id="{A86321B3-74AF-4CD9-B925-59A287C2DC24}"/>
              </a:ext>
            </a:extLst>
          </p:cNvPr>
          <p:cNvSpPr>
            <a:spLocks xmlns:a="http://schemas.openxmlformats.org/drawingml/2006/main" noGrp="1"/>
          </p:cNvSpPr>
          <p:nvPr/>
        </p:nvSpPr>
        <p:spPr>
          <a:xfrm xmlns:a="http://schemas.openxmlformats.org/drawingml/2006/main">
            <a:off x="647700" y="1333500"/>
            <a:ext cx="1076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The data center</a:t>
            </a:r>
          </a:p>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hosts the app.</a:t>
            </a:r>
          </a:p>
        </p:txBody>
      </p:sp>
      <p:sp>
        <p:nvSpPr>
          <p:cNvPr id="4" name="">
            <a:extLst xmlns:a="http://schemas.openxmlformats.org/drawingml/2006/main">
              <a:ext uri="{FF2B5EF4-FFF2-40B4-BE49-F238E27FC236}">
                <a16:creationId xmlns:a16="http://schemas.microsoft.com/office/drawing/2014/main" id="{27D01D62-71FD-4544-8B8C-32F39CB7D3B0}"/>
              </a:ext>
            </a:extLst>
          </p:cNvPr>
          <p:cNvSpPr>
            <a:spLocks xmlns:a="http://schemas.openxmlformats.org/drawingml/2006/main" noGrp="1"/>
          </p:cNvSpPr>
          <p:nvPr/>
        </p:nvSpPr>
        <p:spPr>
          <a:xfrm xmlns:a="http://schemas.openxmlformats.org/drawingml/2006/main">
            <a:off x="68580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A44BBB8-B113-4170-B9A4-E7FEB9A121D7}"/>
              </a:ext>
            </a:extLst>
          </p:cNvPr>
          <p:cNvSpPr>
            <a:spLocks xmlns:a="http://schemas.openxmlformats.org/drawingml/2006/main" noGrp="1"/>
          </p:cNvSpPr>
          <p:nvPr/>
        </p:nvSpPr>
        <p:spPr>
          <a:xfrm xmlns:a="http://schemas.openxmlformats.org/drawingml/2006/main">
            <a:off x="685800" y="4133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Fuel purchase</a:t>
            </a:r>
          </a:p>
        </p:txBody>
      </p:sp>
      <p:sp>
        <p:nvSpPr>
          <p:cNvPr id="6" name="">
            <a:extLst xmlns:a="http://schemas.openxmlformats.org/drawingml/2006/main">
              <a:ext uri="{FF2B5EF4-FFF2-40B4-BE49-F238E27FC236}">
                <a16:creationId xmlns:a16="http://schemas.microsoft.com/office/drawing/2014/main" id="{D1C185D4-518C-464C-9FDB-4887B7C5E786}"/>
              </a:ext>
            </a:extLst>
          </p:cNvPr>
          <p:cNvSpPr>
            <a:spLocks xmlns:a="http://schemas.openxmlformats.org/drawingml/2006/main" noGrp="1"/>
          </p:cNvSpPr>
          <p:nvPr/>
        </p:nvSpPr>
        <p:spPr>
          <a:xfrm xmlns:a="http://schemas.openxmlformats.org/drawingml/2006/main">
            <a:off x="685800" y="4857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Driver buys diesel</a:t>
            </a:r>
          </a:p>
        </p:txBody>
      </p:sp>
      <p:sp>
        <p:nvSpPr>
          <p:cNvPr id="7" name="">
            <a:extLst xmlns:a="http://schemas.openxmlformats.org/drawingml/2006/main">
              <a:ext uri="{FF2B5EF4-FFF2-40B4-BE49-F238E27FC236}">
                <a16:creationId xmlns:a16="http://schemas.microsoft.com/office/drawing/2014/main" id="{E964B356-C032-4ED0-BE72-16C413C43CBD}"/>
              </a:ext>
            </a:extLst>
          </p:cNvPr>
          <p:cNvSpPr>
            <a:spLocks xmlns:a="http://schemas.openxmlformats.org/drawingml/2006/main" noGrp="1"/>
          </p:cNvSpPr>
          <p:nvPr/>
        </p:nvSpPr>
        <p:spPr>
          <a:xfrm xmlns:a="http://schemas.openxmlformats.org/drawingml/2006/main">
            <a:off x="44005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43AA584-9F30-4BF4-87FB-9704F1678095}"/>
              </a:ext>
            </a:extLst>
          </p:cNvPr>
          <p:cNvSpPr>
            <a:spLocks xmlns:a="http://schemas.openxmlformats.org/drawingml/2006/main" noGrp="1"/>
          </p:cNvSpPr>
          <p:nvPr/>
        </p:nvSpPr>
        <p:spPr>
          <a:xfrm xmlns:a="http://schemas.openxmlformats.org/drawingml/2006/main">
            <a:off x="4400550" y="41338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Orbital server</a:t>
            </a:r>
          </a:p>
        </p:txBody>
      </p:sp>
      <p:sp>
        <p:nvSpPr>
          <p:cNvPr id="9" name="">
            <a:extLst xmlns:a="http://schemas.openxmlformats.org/drawingml/2006/main">
              <a:ext uri="{FF2B5EF4-FFF2-40B4-BE49-F238E27FC236}">
                <a16:creationId xmlns:a16="http://schemas.microsoft.com/office/drawing/2014/main" id="{3F220481-AB72-4D14-B4DE-46EA33D13D9A}"/>
              </a:ext>
            </a:extLst>
          </p:cNvPr>
          <p:cNvSpPr>
            <a:spLocks xmlns:a="http://schemas.openxmlformats.org/drawingml/2006/main" noGrp="1"/>
          </p:cNvSpPr>
          <p:nvPr/>
        </p:nvSpPr>
        <p:spPr>
          <a:xfrm xmlns:a="http://schemas.openxmlformats.org/drawingml/2006/main">
            <a:off x="4400550" y="48577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86B63"/>
                </a:solidFill>
                <a:latin typeface="Arial"/>
                <a:ea typeface="Arial"/>
                <a:cs typeface="Arial"/>
              </a:defRPr>
            </a:pPr>
            <a:r>
              <a:rPr sz="1950" b="0">
                <a:solidFill>
                  <a:srgbClr val="686B63"/>
                </a:solidFill>
                <a:latin typeface="Arial"/>
                <a:ea typeface="Arial"/>
                <a:cs typeface="Arial"/>
              </a:rPr>
              <a:t>App + rewards database</a:t>
            </a:r>
          </a:p>
        </p:txBody>
      </p:sp>
      <p:sp>
        <p:nvSpPr>
          <p:cNvPr id="10" name="">
            <a:extLst xmlns:a="http://schemas.openxmlformats.org/drawingml/2006/main">
              <a:ext uri="{FF2B5EF4-FFF2-40B4-BE49-F238E27FC236}">
                <a16:creationId xmlns:a16="http://schemas.microsoft.com/office/drawing/2014/main" id="{8A731D08-2229-4A40-9B3D-83D6C9884C91}"/>
              </a:ext>
            </a:extLst>
          </p:cNvPr>
          <p:cNvSpPr>
            <a:spLocks xmlns:a="http://schemas.openxmlformats.org/drawingml/2006/main" noGrp="1"/>
          </p:cNvSpPr>
          <p:nvPr/>
        </p:nvSpPr>
        <p:spPr>
          <a:xfrm xmlns:a="http://schemas.openxmlformats.org/drawingml/2006/main">
            <a:off x="83248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4CBD256D-0918-4380-971E-87047195DD4D}"/>
              </a:ext>
            </a:extLst>
          </p:cNvPr>
          <p:cNvSpPr>
            <a:spLocks xmlns:a="http://schemas.openxmlformats.org/drawingml/2006/main" noGrp="1"/>
          </p:cNvSpPr>
          <p:nvPr/>
        </p:nvSpPr>
        <p:spPr>
          <a:xfrm xmlns:a="http://schemas.openxmlformats.org/drawingml/2006/main">
            <a:off x="8324850" y="413385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Airline miles</a:t>
            </a:r>
          </a:p>
        </p:txBody>
      </p:sp>
      <p:sp>
        <p:nvSpPr>
          <p:cNvPr id="12" name="">
            <a:extLst xmlns:a="http://schemas.openxmlformats.org/drawingml/2006/main">
              <a:ext uri="{FF2B5EF4-FFF2-40B4-BE49-F238E27FC236}">
                <a16:creationId xmlns:a16="http://schemas.microsoft.com/office/drawing/2014/main" id="{AD976772-77B7-4511-BECF-EDFF289FAB52}"/>
              </a:ext>
            </a:extLst>
          </p:cNvPr>
          <p:cNvSpPr>
            <a:spLocks xmlns:a="http://schemas.openxmlformats.org/drawingml/2006/main" noGrp="1"/>
          </p:cNvSpPr>
          <p:nvPr/>
        </p:nvSpPr>
        <p:spPr>
          <a:xfrm xmlns:a="http://schemas.openxmlformats.org/drawingml/2006/main">
            <a:off x="8324850" y="48577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Balance + flight booking</a:t>
            </a:r>
          </a:p>
        </p:txBody>
      </p:sp>
    </p:spTree>
    <p:extLst>
      <p:ext uri="{BB962C8B-B14F-4D97-AF65-F5344CB8AC3E}">
        <p14:creationId xmlns:p14="http://schemas.microsoft.com/office/powerpoint/2010/main" val="1103075662"/>
      </p:ext>
    </p:extLst>
  </p:cSld>
</p:sld>
</file>

<file path=ppt/slides/slide4.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61F3AF-C58B-42DA-8FA5-423C615E094F}"/>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E90662C4-38CB-4BC9-BE3D-E73DDBFEBFCF}"/>
              </a:ext>
            </a:extLst>
          </p:cNvPr>
          <p:cNvSpPr>
            <a:spLocks xmlns:a="http://schemas.openxmlformats.org/drawingml/2006/main" noGrp="1"/>
          </p:cNvSpPr>
          <p:nvPr/>
        </p:nvSpPr>
        <p:spPr>
          <a:xfrm xmlns:a="http://schemas.openxmlformats.org/drawingml/2006/main">
            <a:off x="666750" y="523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1914"/>
                </a:solidFill>
                <a:latin typeface="Arial"/>
                <a:ea typeface="Arial"/>
                <a:cs typeface="Arial"/>
              </a:defRPr>
            </a:pPr>
            <a:r>
              <a:rPr sz="1800" b="1">
                <a:solidFill>
                  <a:srgbClr val="171914"/>
                </a:solidFill>
                <a:latin typeface="Arial"/>
                <a:ea typeface="Arial"/>
                <a:cs typeface="Arial"/>
              </a:rPr>
              <a:t>REVENUE MODEL</a:t>
            </a:r>
          </a:p>
        </p:txBody>
      </p:sp>
      <p:sp>
        <p:nvSpPr>
          <p:cNvPr id="3" name="">
            <a:extLst xmlns:a="http://schemas.openxmlformats.org/drawingml/2006/main">
              <a:ext uri="{FF2B5EF4-FFF2-40B4-BE49-F238E27FC236}">
                <a16:creationId xmlns:a16="http://schemas.microsoft.com/office/drawing/2014/main" id="{4D4509A5-3DD7-4233-A1F6-738F6845CF4B}"/>
              </a:ext>
            </a:extLst>
          </p:cNvPr>
          <p:cNvSpPr>
            <a:spLocks xmlns:a="http://schemas.openxmlformats.org/drawingml/2006/main" noGrp="1"/>
          </p:cNvSpPr>
          <p:nvPr/>
        </p:nvSpPr>
        <p:spPr>
          <a:xfrm xmlns:a="http://schemas.openxmlformats.org/drawingml/2006/main">
            <a:off x="619125" y="152400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We sell</a:t>
            </a:r>
          </a:p>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miles.</a:t>
            </a:r>
          </a:p>
        </p:txBody>
      </p:sp>
      <p:sp>
        <p:nvSpPr>
          <p:cNvPr id="4" name="">
            <a:extLst xmlns:a="http://schemas.openxmlformats.org/drawingml/2006/main">
              <a:ext uri="{FF2B5EF4-FFF2-40B4-BE49-F238E27FC236}">
                <a16:creationId xmlns:a16="http://schemas.microsoft.com/office/drawing/2014/main" id="{F7B7E631-A1F3-43D4-9213-1EF065B24D55}"/>
              </a:ext>
            </a:extLst>
          </p:cNvPr>
          <p:cNvSpPr>
            <a:spLocks xmlns:a="http://schemas.openxmlformats.org/drawingml/2006/main" noGrp="1"/>
          </p:cNvSpPr>
          <p:nvPr/>
        </p:nvSpPr>
        <p:spPr>
          <a:xfrm xmlns:a="http://schemas.openxmlformats.org/drawingml/2006/main">
            <a:off x="714375" y="5562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Hosting revenue: $0.  Miles revenue: all of it.</a:t>
            </a:r>
          </a:p>
        </p:txBody>
      </p:sp>
    </p:spTree>
    <p:extLst>
      <p:ext uri="{BB962C8B-B14F-4D97-AF65-F5344CB8AC3E}">
        <p14:creationId xmlns:p14="http://schemas.microsoft.com/office/powerpoint/2010/main" val="1442121969"/>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25662F6-623E-4304-94BE-D51CAE75BD88}"/>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8834E806-4C95-44C3-8B6D-14B0B1F70976}"/>
              </a:ext>
            </a:extLst>
          </p:cNvPr>
          <p:cNvSpPr>
            <a:spLocks xmlns:a="http://schemas.openxmlformats.org/drawingml/2006/main" noGrp="1"/>
          </p:cNvSpPr>
          <p:nvPr/>
        </p:nvSpPr>
        <p:spPr>
          <a:xfrm xmlns:a="http://schemas.openxmlformats.org/drawingml/2006/main">
            <a:off x="647700" y="4762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A REAL BUSINESS UNDER THE COSTUME</a:t>
            </a:r>
          </a:p>
        </p:txBody>
      </p:sp>
      <p:sp>
        <p:nvSpPr>
          <p:cNvPr id="3" name="">
            <a:extLst xmlns:a="http://schemas.openxmlformats.org/drawingml/2006/main">
              <a:ext uri="{FF2B5EF4-FFF2-40B4-BE49-F238E27FC236}">
                <a16:creationId xmlns:a16="http://schemas.microsoft.com/office/drawing/2014/main" id="{4E75CBEA-A92D-4F49-8EAD-1D2C5D489149}"/>
              </a:ext>
            </a:extLst>
          </p:cNvPr>
          <p:cNvSpPr>
            <a:spLocks xmlns:a="http://schemas.openxmlformats.org/drawingml/2006/main" noGrp="1"/>
          </p:cNvSpPr>
          <p:nvPr/>
        </p:nvSpPr>
        <p:spPr>
          <a:xfrm xmlns:a="http://schemas.openxmlformats.org/drawingml/2006/main">
            <a:off x="638175" y="10763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1914"/>
                </a:solidFill>
                <a:latin typeface="Arial"/>
                <a:ea typeface="Arial"/>
                <a:cs typeface="Arial"/>
              </a:defRPr>
            </a:pPr>
            <a:r>
              <a:rPr sz="4800" b="1">
                <a:solidFill>
                  <a:srgbClr val="171914"/>
                </a:solidFill>
                <a:latin typeface="Arial"/>
                <a:ea typeface="Arial"/>
                <a:cs typeface="Arial"/>
              </a:rPr>
              <a:t>Fuel in. Flights out.</a:t>
            </a:r>
          </a:p>
        </p:txBody>
      </p:sp>
      <p:sp>
        <p:nvSpPr>
          <p:cNvPr id="4" name="">
            <a:extLst xmlns:a="http://schemas.openxmlformats.org/drawingml/2006/main">
              <a:ext uri="{FF2B5EF4-FFF2-40B4-BE49-F238E27FC236}">
                <a16:creationId xmlns:a16="http://schemas.microsoft.com/office/drawing/2014/main" id="{37BA03FE-6CF9-4ABA-8EFD-671A59AF9A03}"/>
              </a:ext>
            </a:extLst>
          </p:cNvPr>
          <p:cNvSpPr>
            <a:spLocks xmlns:a="http://schemas.openxmlformats.org/drawingml/2006/main" noGrp="1"/>
          </p:cNvSpPr>
          <p:nvPr/>
        </p:nvSpPr>
        <p:spPr>
          <a:xfrm xmlns:a="http://schemas.openxmlformats.org/drawingml/2006/main">
            <a:off x="723900" y="24384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34FDC3C-21A0-4451-B6EE-2740E86533FD}"/>
              </a:ext>
            </a:extLst>
          </p:cNvPr>
          <p:cNvSpPr>
            <a:spLocks xmlns:a="http://schemas.openxmlformats.org/drawingml/2006/main" noGrp="1"/>
          </p:cNvSpPr>
          <p:nvPr/>
        </p:nvSpPr>
        <p:spPr>
          <a:xfrm xmlns:a="http://schemas.openxmlformats.org/drawingml/2006/main">
            <a:off x="1600200" y="24384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Truck stops buy miles</a:t>
            </a:r>
          </a:p>
        </p:txBody>
      </p:sp>
      <p:sp>
        <p:nvSpPr>
          <p:cNvPr id="6" name="">
            <a:extLst xmlns:a="http://schemas.openxmlformats.org/drawingml/2006/main">
              <a:ext uri="{FF2B5EF4-FFF2-40B4-BE49-F238E27FC236}">
                <a16:creationId xmlns:a16="http://schemas.microsoft.com/office/drawing/2014/main" id="{DB82A48B-A403-45C7-931D-01E58E474A77}"/>
              </a:ext>
            </a:extLst>
          </p:cNvPr>
          <p:cNvSpPr>
            <a:spLocks xmlns:a="http://schemas.openxmlformats.org/drawingml/2006/main" noGrp="1"/>
          </p:cNvSpPr>
          <p:nvPr/>
        </p:nvSpPr>
        <p:spPr>
          <a:xfrm xmlns:a="http://schemas.openxmlformats.org/drawingml/2006/main">
            <a:off x="1600200" y="28479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to bring drivers back to their locations.</a:t>
            </a:r>
          </a:p>
        </p:txBody>
      </p:sp>
      <p:sp>
        <p:nvSpPr>
          <p:cNvPr id="7" name="">
            <a:extLst xmlns:a="http://schemas.openxmlformats.org/drawingml/2006/main">
              <a:ext uri="{FF2B5EF4-FFF2-40B4-BE49-F238E27FC236}">
                <a16:creationId xmlns:a16="http://schemas.microsoft.com/office/drawing/2014/main" id="{9680E67B-8995-461A-8759-35D48EE82B0B}"/>
              </a:ext>
            </a:extLst>
          </p:cNvPr>
          <p:cNvSpPr>
            <a:spLocks xmlns:a="http://schemas.openxmlformats.org/drawingml/2006/main" noGrp="1"/>
          </p:cNvSpPr>
          <p:nvPr/>
        </p:nvSpPr>
        <p:spPr>
          <a:xfrm xmlns:a="http://schemas.openxmlformats.org/drawingml/2006/main">
            <a:off x="723900" y="33147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97C4CCF-2EF6-4012-B953-1C4A64114B0E}"/>
              </a:ext>
            </a:extLst>
          </p:cNvPr>
          <p:cNvSpPr>
            <a:spLocks xmlns:a="http://schemas.openxmlformats.org/drawingml/2006/main" noGrp="1"/>
          </p:cNvSpPr>
          <p:nvPr/>
        </p:nvSpPr>
        <p:spPr>
          <a:xfrm xmlns:a="http://schemas.openxmlformats.org/drawingml/2006/main">
            <a:off x="1600200" y="33147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Customers earn miles</a:t>
            </a:r>
          </a:p>
        </p:txBody>
      </p:sp>
      <p:sp>
        <p:nvSpPr>
          <p:cNvPr id="9" name="">
            <a:extLst xmlns:a="http://schemas.openxmlformats.org/drawingml/2006/main">
              <a:ext uri="{FF2B5EF4-FFF2-40B4-BE49-F238E27FC236}">
                <a16:creationId xmlns:a16="http://schemas.microsoft.com/office/drawing/2014/main" id="{20BC57AA-DBA0-4976-A0D2-64E374512DF2}"/>
              </a:ext>
            </a:extLst>
          </p:cNvPr>
          <p:cNvSpPr>
            <a:spLocks xmlns:a="http://schemas.openxmlformats.org/drawingml/2006/main" noGrp="1"/>
          </p:cNvSpPr>
          <p:nvPr/>
        </p:nvSpPr>
        <p:spPr>
          <a:xfrm xmlns:a="http://schemas.openxmlformats.org/drawingml/2006/main">
            <a:off x="1600200" y="37242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when they buy fuel and food.</a:t>
            </a:r>
          </a:p>
        </p:txBody>
      </p:sp>
      <p:sp>
        <p:nvSpPr>
          <p:cNvPr id="10" name="">
            <a:extLst xmlns:a="http://schemas.openxmlformats.org/drawingml/2006/main">
              <a:ext uri="{FF2B5EF4-FFF2-40B4-BE49-F238E27FC236}">
                <a16:creationId xmlns:a16="http://schemas.microsoft.com/office/drawing/2014/main" id="{E3A0E10D-EBCE-494B-9599-D3B20EA2D3C3}"/>
              </a:ext>
            </a:extLst>
          </p:cNvPr>
          <p:cNvSpPr>
            <a:spLocks xmlns:a="http://schemas.openxmlformats.org/drawingml/2006/main" noGrp="1"/>
          </p:cNvSpPr>
          <p:nvPr/>
        </p:nvSpPr>
        <p:spPr>
          <a:xfrm xmlns:a="http://schemas.openxmlformats.org/drawingml/2006/main">
            <a:off x="723900" y="41910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4EDB20DA-893D-41F6-BFD6-E1610514A32C}"/>
              </a:ext>
            </a:extLst>
          </p:cNvPr>
          <p:cNvSpPr>
            <a:spLocks xmlns:a="http://schemas.openxmlformats.org/drawingml/2006/main" noGrp="1"/>
          </p:cNvSpPr>
          <p:nvPr/>
        </p:nvSpPr>
        <p:spPr>
          <a:xfrm xmlns:a="http://schemas.openxmlformats.org/drawingml/2006/main">
            <a:off x="1600200" y="41910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pay for real flights</a:t>
            </a:r>
          </a:p>
        </p:txBody>
      </p:sp>
      <p:sp>
        <p:nvSpPr>
          <p:cNvPr id="12" name="">
            <a:extLst xmlns:a="http://schemas.openxmlformats.org/drawingml/2006/main">
              <a:ext uri="{FF2B5EF4-FFF2-40B4-BE49-F238E27FC236}">
                <a16:creationId xmlns:a16="http://schemas.microsoft.com/office/drawing/2014/main" id="{9F51C159-9640-4DDC-BC3D-2C39A986A105}"/>
              </a:ext>
            </a:extLst>
          </p:cNvPr>
          <p:cNvSpPr>
            <a:spLocks xmlns:a="http://schemas.openxmlformats.org/drawingml/2006/main" noGrp="1"/>
          </p:cNvSpPr>
          <p:nvPr/>
        </p:nvSpPr>
        <p:spPr>
          <a:xfrm xmlns:a="http://schemas.openxmlformats.org/drawingml/2006/main">
            <a:off x="1600200" y="46005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on existing airlines when miles are redeemed.</a:t>
            </a:r>
          </a:p>
        </p:txBody>
      </p:sp>
      <p:sp>
        <p:nvSpPr>
          <p:cNvPr id="13" name="">
            <a:extLst xmlns:a="http://schemas.openxmlformats.org/drawingml/2006/main">
              <a:ext uri="{FF2B5EF4-FFF2-40B4-BE49-F238E27FC236}">
                <a16:creationId xmlns:a16="http://schemas.microsoft.com/office/drawing/2014/main" id="{AC05BB42-2007-4A80-8547-F1023CECC620}"/>
              </a:ext>
            </a:extLst>
          </p:cNvPr>
          <p:cNvSpPr>
            <a:spLocks xmlns:a="http://schemas.openxmlformats.org/drawingml/2006/main" noGrp="1"/>
          </p:cNvSpPr>
          <p:nvPr/>
        </p:nvSpPr>
        <p:spPr>
          <a:xfrm xmlns:a="http://schemas.openxmlformats.org/drawingml/2006/main">
            <a:off x="723900" y="50673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97456111-D693-4002-83A1-11906B541967}"/>
              </a:ext>
            </a:extLst>
          </p:cNvPr>
          <p:cNvSpPr>
            <a:spLocks xmlns:a="http://schemas.openxmlformats.org/drawingml/2006/main" noGrp="1"/>
          </p:cNvSpPr>
          <p:nvPr/>
        </p:nvSpPr>
        <p:spPr>
          <a:xfrm xmlns:a="http://schemas.openxmlformats.org/drawingml/2006/main">
            <a:off x="1600200" y="50673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keep the difference</a:t>
            </a:r>
          </a:p>
        </p:txBody>
      </p:sp>
      <p:sp>
        <p:nvSpPr>
          <p:cNvPr id="15" name="">
            <a:extLst xmlns:a="http://schemas.openxmlformats.org/drawingml/2006/main">
              <a:ext uri="{FF2B5EF4-FFF2-40B4-BE49-F238E27FC236}">
                <a16:creationId xmlns:a16="http://schemas.microsoft.com/office/drawing/2014/main" id="{CA7D4D90-A303-4A14-8E81-625205315BDF}"/>
              </a:ext>
            </a:extLst>
          </p:cNvPr>
          <p:cNvSpPr>
            <a:spLocks xmlns:a="http://schemas.openxmlformats.org/drawingml/2006/main" noGrp="1"/>
          </p:cNvSpPr>
          <p:nvPr/>
        </p:nvSpPr>
        <p:spPr>
          <a:xfrm xmlns:a="http://schemas.openxmlformats.org/drawingml/2006/main">
            <a:off x="1600200" y="54768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after reward and operating costs.</a:t>
            </a:r>
          </a:p>
        </p:txBody>
      </p:sp>
    </p:spTree>
    <p:extLst>
      <p:ext uri="{BB962C8B-B14F-4D97-AF65-F5344CB8AC3E}">
        <p14:creationId xmlns:p14="http://schemas.microsoft.com/office/powerpoint/2010/main" val="842102860"/>
      </p:ext>
    </p:extLst>
  </p:cSld>
</p:sld>
</file>

<file path=ppt/slides/slide6.xml><?xml version="1.0" encoding="utf-8"?>
<p:sld xmlns:p="http://schemas.openxmlformats.org/presentationml/2006/main">
  <p:cSld>
    <p:bg>
      <p:bgPr>
        <a:solidFill xmlns:a="http://schemas.openxmlformats.org/drawingml/2006/main">
          <a:srgbClr val="1719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8EA15B-0F0F-4E45-9CE4-28AA55F05596}"/>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99999"/>
                </a:solidFill>
                <a:latin typeface="Arial"/>
                <a:ea typeface="Arial"/>
                <a:cs typeface="Arial"/>
              </a:defRPr>
            </a:pPr>
            <a:r>
              <a:rPr sz="1200" b="0">
                <a:solidFill>
                  <a:srgbClr val="999999"/>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136C262A-9F31-4679-B788-1E33788973B0}"/>
              </a:ext>
            </a:extLst>
          </p:cNvPr>
          <p:cNvSpPr>
            <a:spLocks xmlns:a="http://schemas.openxmlformats.org/drawingml/2006/main" noGrp="1"/>
          </p:cNvSpPr>
          <p:nvPr/>
        </p:nvSpPr>
        <p:spPr>
          <a:xfrm xmlns:a="http://schemas.openxmlformats.org/drawingml/2006/main">
            <a:off x="666750" y="523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4F1EA"/>
                </a:solidFill>
                <a:latin typeface="Arial"/>
                <a:ea typeface="Arial"/>
                <a:cs typeface="Arial"/>
              </a:defRPr>
            </a:pPr>
            <a:r>
              <a:rPr sz="2100" b="1">
                <a:solidFill>
                  <a:srgbClr val="F4F1EA"/>
                </a:solidFill>
                <a:latin typeface="Arial"/>
                <a:ea typeface="Arial"/>
                <a:cs typeface="Arial"/>
              </a:rPr>
              <a:t>OUR RESPONSE TO AWS + REGULATORY RISK</a:t>
            </a:r>
          </a:p>
        </p:txBody>
      </p:sp>
      <p:sp>
        <p:nvSpPr>
          <p:cNvPr id="3" name="">
            <a:extLst xmlns:a="http://schemas.openxmlformats.org/drawingml/2006/main">
              <a:ext uri="{FF2B5EF4-FFF2-40B4-BE49-F238E27FC236}">
                <a16:creationId xmlns:a16="http://schemas.microsoft.com/office/drawing/2014/main" id="{6EEA6944-9AAE-462B-AD5E-838989505468}"/>
              </a:ext>
            </a:extLst>
          </p:cNvPr>
          <p:cNvSpPr>
            <a:spLocks xmlns:a="http://schemas.openxmlformats.org/drawingml/2006/main" noGrp="1"/>
          </p:cNvSpPr>
          <p:nvPr/>
        </p:nvSpPr>
        <p:spPr>
          <a:xfrm xmlns:a="http://schemas.openxmlformats.org/drawingml/2006/main">
            <a:off x="609600" y="1743075"/>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1">
                <a:solidFill>
                  <a:srgbClr val="FF6400"/>
                </a:solidFill>
                <a:latin typeface="Arial"/>
                <a:ea typeface="Arial"/>
                <a:cs typeface="Arial"/>
              </a:defRPr>
            </a:pPr>
            <a:r>
              <a:rPr sz="9750" b="1">
                <a:solidFill>
                  <a:srgbClr val="FF6400"/>
                </a:solidFill>
                <a:latin typeface="Arial"/>
                <a:ea typeface="Arial"/>
                <a:cs typeface="Arial"/>
              </a:rPr>
              <a:t>$600M</a:t>
            </a:r>
          </a:p>
        </p:txBody>
      </p:sp>
      <p:sp>
        <p:nvSpPr>
          <p:cNvPr id="4" name="">
            <a:extLst xmlns:a="http://schemas.openxmlformats.org/drawingml/2006/main">
              <a:ext uri="{FF2B5EF4-FFF2-40B4-BE49-F238E27FC236}">
                <a16:creationId xmlns:a16="http://schemas.microsoft.com/office/drawing/2014/main" id="{6D170DF3-5DCF-4838-9EE4-83CC1D0AE6A2}"/>
              </a:ext>
            </a:extLst>
          </p:cNvPr>
          <p:cNvSpPr>
            <a:spLocks xmlns:a="http://schemas.openxmlformats.org/drawingml/2006/main" noGrp="1"/>
          </p:cNvSpPr>
          <p:nvPr/>
        </p:nvSpPr>
        <p:spPr>
          <a:xfrm xmlns:a="http://schemas.openxmlformats.org/drawingml/2006/main">
            <a:off x="723900" y="3381375"/>
            <a:ext cx="5762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F4F1EA"/>
                </a:solidFill>
                <a:latin typeface="Arial"/>
                <a:ea typeface="Arial"/>
                <a:cs typeface="Arial"/>
              </a:defRPr>
            </a:pPr>
            <a:r>
              <a:rPr sz="3975" b="1">
                <a:solidFill>
                  <a:srgbClr val="F4F1EA"/>
                </a:solidFill>
                <a:latin typeface="Arial"/>
                <a:ea typeface="Arial"/>
                <a:cs typeface="Arial"/>
              </a:rPr>
              <a:t>hosting bill.</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010eaa277484e79"/>
          <a:stretch xmlns:a="http://schemas.openxmlformats.org/drawingml/2006/main"/>
        </p:blipFill>
        <p:spPr>
          <a:xfrm xmlns:a="http://schemas.openxmlformats.org/drawingml/2006/main">
            <a:off x="6238875" y="1606854"/>
            <a:ext cx="5429250" cy="364429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405B005-50A8-4122-A75F-E63D6B0B7181}"/>
              </a:ext>
            </a:extLst>
          </p:cNvPr>
          <p:cNvSpPr>
            <a:spLocks xmlns:a="http://schemas.openxmlformats.org/drawingml/2006/main" noGrp="1"/>
          </p:cNvSpPr>
          <p:nvPr/>
        </p:nvSpPr>
        <p:spPr>
          <a:xfrm xmlns:a="http://schemas.openxmlformats.org/drawingml/2006/main">
            <a:off x="733425" y="55626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1EA"/>
                </a:solidFill>
                <a:latin typeface="Arial"/>
                <a:ea typeface="Arial"/>
                <a:cs typeface="Arial"/>
              </a:defRPr>
            </a:pPr>
            <a:r>
              <a:rPr sz="2550" b="1">
                <a:solidFill>
                  <a:srgbClr val="F4F1EA"/>
                </a:solidFill>
                <a:latin typeface="Arial"/>
                <a:ea typeface="Arial"/>
                <a:cs typeface="Arial"/>
              </a:rPr>
              <a:t>AWS asked us to pick a region. We picked orbit.</a:t>
            </a:r>
          </a:p>
        </p:txBody>
      </p:sp>
    </p:spTree>
    <p:extLst>
      <p:ext uri="{BB962C8B-B14F-4D97-AF65-F5344CB8AC3E}">
        <p14:creationId xmlns:p14="http://schemas.microsoft.com/office/powerpoint/2010/main" val="804029327"/>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11283E6-0678-4492-A283-24DF7389264D}"/>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03140B5D-20D0-4DC2-BFA5-E5750C14F56C}"/>
              </a:ext>
            </a:extLst>
          </p:cNvPr>
          <p:cNvSpPr>
            <a:spLocks xmlns:a="http://schemas.openxmlformats.org/drawingml/2006/main" noGrp="1"/>
          </p:cNvSpPr>
          <p:nvPr/>
        </p:nvSpPr>
        <p:spPr>
          <a:xfrm xmlns:a="http://schemas.openxmlformats.org/drawingml/2006/main">
            <a:off x="666750" y="4572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TEAM</a:t>
            </a:r>
          </a:p>
        </p:txBody>
      </p:sp>
      <p:sp>
        <p:nvSpPr>
          <p:cNvPr id="3" name="">
            <a:extLst xmlns:a="http://schemas.openxmlformats.org/drawingml/2006/main">
              <a:ext uri="{FF2B5EF4-FFF2-40B4-BE49-F238E27FC236}">
                <a16:creationId xmlns:a16="http://schemas.microsoft.com/office/drawing/2014/main" id="{84D2A966-95C0-4EA9-8201-B77055AA0F83}"/>
              </a:ext>
            </a:extLst>
          </p:cNvPr>
          <p:cNvSpPr>
            <a:spLocks xmlns:a="http://schemas.openxmlformats.org/drawingml/2006/main" noGrp="1"/>
          </p:cNvSpPr>
          <p:nvPr/>
        </p:nvSpPr>
        <p:spPr>
          <a:xfrm xmlns:a="http://schemas.openxmlformats.org/drawingml/2006/main">
            <a:off x="647700" y="1038225"/>
            <a:ext cx="1085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Two Forbes honorees.</a:t>
            </a:r>
          </a:p>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One emergency contact.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fa6c387beff43f1"/>
          <a:srcRect xmlns:a="http://schemas.openxmlformats.org/drawingml/2006/main" l="0" t="0" r="0" b="0"/>
          <a:stretch xmlns:a="http://schemas.openxmlformats.org/drawingml/2006/main">
            <a:fillRect l="0" t="0" r="0" b="0"/>
          </a:stretch>
        </p:blipFill>
        <p:spPr>
          <a:xfrm xmlns:a="http://schemas.openxmlformats.org/drawingml/2006/main">
            <a:off x="723900" y="2543175"/>
            <a:ext cx="2571750" cy="2571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62880E9-B944-408B-9FA6-17D2063CDDA9}"/>
              </a:ext>
            </a:extLst>
          </p:cNvPr>
          <p:cNvSpPr>
            <a:spLocks xmlns:a="http://schemas.openxmlformats.org/drawingml/2006/main" noGrp="1"/>
          </p:cNvSpPr>
          <p:nvPr/>
        </p:nvSpPr>
        <p:spPr>
          <a:xfrm xmlns:a="http://schemas.openxmlformats.org/drawingml/2006/main">
            <a:off x="72390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NADAV SHOVAL</a:t>
            </a:r>
          </a:p>
        </p:txBody>
      </p:sp>
      <p:sp>
        <p:nvSpPr>
          <p:cNvPr id="6" name="">
            <a:extLst xmlns:a="http://schemas.openxmlformats.org/drawingml/2006/main">
              <a:ext uri="{FF2B5EF4-FFF2-40B4-BE49-F238E27FC236}">
                <a16:creationId xmlns:a16="http://schemas.microsoft.com/office/drawing/2014/main" id="{C8F03B97-B940-442F-AF7D-0FADBB102978}"/>
              </a:ext>
            </a:extLst>
          </p:cNvPr>
          <p:cNvSpPr>
            <a:spLocks xmlns:a="http://schemas.openxmlformats.org/drawingml/2006/main" noGrp="1"/>
          </p:cNvSpPr>
          <p:nvPr/>
        </p:nvSpPr>
        <p:spPr>
          <a:xfrm xmlns:a="http://schemas.openxmlformats.org/drawingml/2006/main">
            <a:off x="72390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7" name="">
            <a:extLst xmlns:a="http://schemas.openxmlformats.org/drawingml/2006/main">
              <a:ext uri="{FF2B5EF4-FFF2-40B4-BE49-F238E27FC236}">
                <a16:creationId xmlns:a16="http://schemas.microsoft.com/office/drawing/2014/main" id="{4C2D8C78-80DA-4825-9D09-0BE42AF6A30C}"/>
              </a:ext>
            </a:extLst>
          </p:cNvPr>
          <p:cNvSpPr>
            <a:spLocks xmlns:a="http://schemas.openxmlformats.org/drawingml/2006/main" noGrp="1"/>
          </p:cNvSpPr>
          <p:nvPr/>
        </p:nvSpPr>
        <p:spPr>
          <a:xfrm xmlns:a="http://schemas.openxmlformats.org/drawingml/2006/main">
            <a:off x="72390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Forbes 30 Under 30</a:t>
            </a:r>
          </a:p>
        </p:txBody>
      </p:sp>
      <p:sp>
        <p:nvSpPr>
          <p:cNvPr id="8" name="">
            <a:extLst xmlns:a="http://schemas.openxmlformats.org/drawingml/2006/main">
              <a:ext uri="{FF2B5EF4-FFF2-40B4-BE49-F238E27FC236}">
                <a16:creationId xmlns:a16="http://schemas.microsoft.com/office/drawing/2014/main" id="{F01A9EA2-1DC2-480D-8CDC-CE8E36FBC0CE}"/>
              </a:ext>
            </a:extLst>
          </p:cNvPr>
          <p:cNvSpPr>
            <a:spLocks xmlns:a="http://schemas.openxmlformats.org/drawingml/2006/main" noGrp="1"/>
          </p:cNvSpPr>
          <p:nvPr/>
        </p:nvSpPr>
        <p:spPr>
          <a:xfrm xmlns:a="http://schemas.openxmlformats.org/drawingml/2006/main">
            <a:off x="72390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Head of miles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0dd83101b1648a7"/>
          <a:srcRect xmlns:a="http://schemas.openxmlformats.org/drawingml/2006/main" l="0" t="0" r="0" b="0"/>
          <a:stretch xmlns:a="http://schemas.openxmlformats.org/drawingml/2006/main">
            <a:fillRect l="0" t="0" r="0" b="0"/>
          </a:stretch>
        </p:blipFill>
        <p:spPr>
          <a:xfrm xmlns:a="http://schemas.openxmlformats.org/drawingml/2006/main">
            <a:off x="4438650" y="2543175"/>
            <a:ext cx="2571750" cy="2571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4FBC6E7-36C8-407F-A2E1-1579FFF95BF1}"/>
              </a:ext>
            </a:extLst>
          </p:cNvPr>
          <p:cNvSpPr>
            <a:spLocks xmlns:a="http://schemas.openxmlformats.org/drawingml/2006/main" noGrp="1"/>
          </p:cNvSpPr>
          <p:nvPr/>
        </p:nvSpPr>
        <p:spPr>
          <a:xfrm xmlns:a="http://schemas.openxmlformats.org/drawingml/2006/main">
            <a:off x="443865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PARKER TENNEY</a:t>
            </a:r>
          </a:p>
        </p:txBody>
      </p:sp>
      <p:sp>
        <p:nvSpPr>
          <p:cNvPr id="11" name="">
            <a:extLst xmlns:a="http://schemas.openxmlformats.org/drawingml/2006/main">
              <a:ext uri="{FF2B5EF4-FFF2-40B4-BE49-F238E27FC236}">
                <a16:creationId xmlns:a16="http://schemas.microsoft.com/office/drawing/2014/main" id="{95E48C24-BE45-48BA-A5A6-ED4F11B9EC75}"/>
              </a:ext>
            </a:extLst>
          </p:cNvPr>
          <p:cNvSpPr>
            <a:spLocks xmlns:a="http://schemas.openxmlformats.org/drawingml/2006/main" noGrp="1"/>
          </p:cNvSpPr>
          <p:nvPr/>
        </p:nvSpPr>
        <p:spPr>
          <a:xfrm xmlns:a="http://schemas.openxmlformats.org/drawingml/2006/main">
            <a:off x="443865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12" name="">
            <a:extLst xmlns:a="http://schemas.openxmlformats.org/drawingml/2006/main">
              <a:ext uri="{FF2B5EF4-FFF2-40B4-BE49-F238E27FC236}">
                <a16:creationId xmlns:a16="http://schemas.microsoft.com/office/drawing/2014/main" id="{36F7FFE5-5974-4B2E-81D2-CF63FB40B9CC}"/>
              </a:ext>
            </a:extLst>
          </p:cNvPr>
          <p:cNvSpPr>
            <a:spLocks xmlns:a="http://schemas.openxmlformats.org/drawingml/2006/main" noGrp="1"/>
          </p:cNvSpPr>
          <p:nvPr/>
        </p:nvSpPr>
        <p:spPr>
          <a:xfrm xmlns:a="http://schemas.openxmlformats.org/drawingml/2006/main">
            <a:off x="443865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Forbes 30 Under 30</a:t>
            </a:r>
          </a:p>
        </p:txBody>
      </p:sp>
      <p:sp>
        <p:nvSpPr>
          <p:cNvPr id="13" name="">
            <a:extLst xmlns:a="http://schemas.openxmlformats.org/drawingml/2006/main">
              <a:ext uri="{FF2B5EF4-FFF2-40B4-BE49-F238E27FC236}">
                <a16:creationId xmlns:a16="http://schemas.microsoft.com/office/drawing/2014/main" id="{DCE5C978-FD6E-4F0A-A554-5154E807FF16}"/>
              </a:ext>
            </a:extLst>
          </p:cNvPr>
          <p:cNvSpPr>
            <a:spLocks xmlns:a="http://schemas.openxmlformats.org/drawingml/2006/main" noGrp="1"/>
          </p:cNvSpPr>
          <p:nvPr/>
        </p:nvSpPr>
        <p:spPr>
          <a:xfrm xmlns:a="http://schemas.openxmlformats.org/drawingml/2006/main">
            <a:off x="443865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Head of valuation</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0bad8dcb02e3443e"/>
          <a:srcRect xmlns:a="http://schemas.openxmlformats.org/drawingml/2006/main" l="0" t="0" r="0" b="0"/>
          <a:stretch xmlns:a="http://schemas.openxmlformats.org/drawingml/2006/main">
            <a:fillRect l="0" t="0" r="0" b="0"/>
          </a:stretch>
        </p:blipFill>
        <p:spPr>
          <a:xfrm xmlns:a="http://schemas.openxmlformats.org/drawingml/2006/main">
            <a:off x="8153400" y="2543175"/>
            <a:ext cx="2571750" cy="2571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0872B15-8629-4B3C-A5E6-BAC28B06E0AD}"/>
              </a:ext>
            </a:extLst>
          </p:cNvPr>
          <p:cNvSpPr>
            <a:spLocks xmlns:a="http://schemas.openxmlformats.org/drawingml/2006/main" noGrp="1"/>
          </p:cNvSpPr>
          <p:nvPr/>
        </p:nvSpPr>
        <p:spPr>
          <a:xfrm xmlns:a="http://schemas.openxmlformats.org/drawingml/2006/main">
            <a:off x="815340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PATRICK FINLEY</a:t>
            </a:r>
          </a:p>
        </p:txBody>
      </p:sp>
      <p:sp>
        <p:nvSpPr>
          <p:cNvPr id="16" name="">
            <a:extLst xmlns:a="http://schemas.openxmlformats.org/drawingml/2006/main">
              <a:ext uri="{FF2B5EF4-FFF2-40B4-BE49-F238E27FC236}">
                <a16:creationId xmlns:a16="http://schemas.microsoft.com/office/drawing/2014/main" id="{70A5EDCE-A54F-4E1B-A5D9-011D29382035}"/>
              </a:ext>
            </a:extLst>
          </p:cNvPr>
          <p:cNvSpPr>
            <a:spLocks xmlns:a="http://schemas.openxmlformats.org/drawingml/2006/main" noGrp="1"/>
          </p:cNvSpPr>
          <p:nvPr/>
        </p:nvSpPr>
        <p:spPr>
          <a:xfrm xmlns:a="http://schemas.openxmlformats.org/drawingml/2006/main">
            <a:off x="815340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17" name="">
            <a:extLst xmlns:a="http://schemas.openxmlformats.org/drawingml/2006/main">
              <a:ext uri="{FF2B5EF4-FFF2-40B4-BE49-F238E27FC236}">
                <a16:creationId xmlns:a16="http://schemas.microsoft.com/office/drawing/2014/main" id="{EB798F66-2BBD-4E60-AF92-9B8BEC077993}"/>
              </a:ext>
            </a:extLst>
          </p:cNvPr>
          <p:cNvSpPr>
            <a:spLocks xmlns:a="http://schemas.openxmlformats.org/drawingml/2006/main" noGrp="1"/>
          </p:cNvSpPr>
          <p:nvPr/>
        </p:nvSpPr>
        <p:spPr>
          <a:xfrm xmlns:a="http://schemas.openxmlformats.org/drawingml/2006/main">
            <a:off x="815340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Beat Starship at racing</a:t>
            </a:r>
          </a:p>
        </p:txBody>
      </p:sp>
      <p:sp>
        <p:nvSpPr>
          <p:cNvPr id="18" name="">
            <a:extLst xmlns:a="http://schemas.openxmlformats.org/drawingml/2006/main">
              <a:ext uri="{FF2B5EF4-FFF2-40B4-BE49-F238E27FC236}">
                <a16:creationId xmlns:a16="http://schemas.microsoft.com/office/drawing/2014/main" id="{BD0E0894-9605-4E0F-B200-F6E813FB2628}"/>
              </a:ext>
            </a:extLst>
          </p:cNvPr>
          <p:cNvSpPr>
            <a:spLocks xmlns:a="http://schemas.openxmlformats.org/drawingml/2006/main" noGrp="1"/>
          </p:cNvSpPr>
          <p:nvPr/>
        </p:nvSpPr>
        <p:spPr>
          <a:xfrm xmlns:a="http://schemas.openxmlformats.org/drawingml/2006/main">
            <a:off x="815340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Emergency contact</a:t>
            </a:r>
          </a:p>
        </p:txBody>
      </p:sp>
    </p:spTree>
    <p:extLst>
      <p:ext uri="{BB962C8B-B14F-4D97-AF65-F5344CB8AC3E}">
        <p14:creationId xmlns:p14="http://schemas.microsoft.com/office/powerpoint/2010/main" val="205047843"/>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6D1E32-329B-4D3C-B7E9-08949CABF93C}"/>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CD95B69F-B65C-43CA-BCC9-EF362E2CBD43}"/>
              </a:ext>
            </a:extLst>
          </p:cNvPr>
          <p:cNvSpPr>
            <a:spLocks xmlns:a="http://schemas.openxmlformats.org/drawingml/2006/main" noGrp="1"/>
          </p:cNvSpPr>
          <p:nvPr/>
        </p:nvSpPr>
        <p:spPr>
          <a:xfrm xmlns:a="http://schemas.openxmlformats.org/drawingml/2006/main">
            <a:off x="666750" y="476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TECHNICAL DILIGENCE</a:t>
            </a:r>
          </a:p>
        </p:txBody>
      </p:sp>
      <p:sp>
        <p:nvSpPr>
          <p:cNvPr id="3" name="">
            <a:extLst xmlns:a="http://schemas.openxmlformats.org/drawingml/2006/main">
              <a:ext uri="{FF2B5EF4-FFF2-40B4-BE49-F238E27FC236}">
                <a16:creationId xmlns:a16="http://schemas.microsoft.com/office/drawing/2014/main" id="{A0C0A089-EB70-4841-BC86-E0A072D41572}"/>
              </a:ext>
            </a:extLst>
          </p:cNvPr>
          <p:cNvSpPr>
            <a:spLocks xmlns:a="http://schemas.openxmlformats.org/drawingml/2006/main" noGrp="1"/>
          </p:cNvSpPr>
          <p:nvPr/>
        </p:nvSpPr>
        <p:spPr>
          <a:xfrm xmlns:a="http://schemas.openxmlformats.org/drawingml/2006/main">
            <a:off x="657225" y="16192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171914"/>
                </a:solidFill>
                <a:latin typeface="Arial"/>
                <a:ea typeface="Arial"/>
                <a:cs typeface="Arial"/>
              </a:defRPr>
            </a:pPr>
            <a:r>
              <a:rPr sz="6900" b="1">
                <a:solidFill>
                  <a:srgbClr val="171914"/>
                </a:solidFill>
                <a:latin typeface="Arial"/>
                <a:ea typeface="Arial"/>
                <a:cs typeface="Arial"/>
              </a:rPr>
              <a:t>We have Will.</a:t>
            </a:r>
          </a:p>
        </p:txBody>
      </p:sp>
      <p:sp>
        <p:nvSpPr>
          <p:cNvPr id="4" name="">
            <a:extLst xmlns:a="http://schemas.openxmlformats.org/drawingml/2006/main">
              <a:ext uri="{FF2B5EF4-FFF2-40B4-BE49-F238E27FC236}">
                <a16:creationId xmlns:a16="http://schemas.microsoft.com/office/drawing/2014/main" id="{79554D95-59F1-4DBD-9DEA-06A92672337D}"/>
              </a:ext>
            </a:extLst>
          </p:cNvPr>
          <p:cNvSpPr>
            <a:spLocks xmlns:a="http://schemas.openxmlformats.org/drawingml/2006/main" noGrp="1"/>
          </p:cNvSpPr>
          <p:nvPr/>
        </p:nvSpPr>
        <p:spPr>
          <a:xfrm xmlns:a="http://schemas.openxmlformats.org/drawingml/2006/main">
            <a:off x="723900" y="3333750"/>
            <a:ext cx="7620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He spent 12 years at SpaceX.</a:t>
            </a:r>
          </a:p>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We spent 12 minutes with his headshot.</a:t>
            </a:r>
          </a:p>
        </p:txBody>
      </p:sp>
      <p:sp>
        <p:nvSpPr>
          <p:cNvPr id="5" name="">
            <a:extLst xmlns:a="http://schemas.openxmlformats.org/drawingml/2006/main">
              <a:ext uri="{FF2B5EF4-FFF2-40B4-BE49-F238E27FC236}">
                <a16:creationId xmlns:a16="http://schemas.microsoft.com/office/drawing/2014/main" id="{C06BAE25-D72F-4718-AAF5-2EEC0B3BA3B2}"/>
              </a:ext>
            </a:extLst>
          </p:cNvPr>
          <p:cNvSpPr>
            <a:spLocks xmlns:a="http://schemas.openxmlformats.org/drawingml/2006/main" noGrp="1"/>
          </p:cNvSpPr>
          <p:nvPr/>
        </p:nvSpPr>
        <p:spPr>
          <a:xfrm xmlns:a="http://schemas.openxmlformats.org/drawingml/2006/main">
            <a:off x="723900" y="54102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F6400"/>
                </a:solidFill>
                <a:latin typeface="Arial"/>
                <a:ea typeface="Arial"/>
                <a:cs typeface="Arial"/>
              </a:defRPr>
            </a:pPr>
            <a:r>
              <a:rPr sz="3675" b="1">
                <a:solidFill>
                  <a:srgbClr val="FF6400"/>
                </a:solidFill>
                <a:latin typeface="Arial"/>
                <a:ea typeface="Arial"/>
                <a:cs typeface="Arial"/>
              </a:rPr>
              <a:t>Due diligence complete.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2749eef408240b8"/>
          <a:stretch xmlns:a="http://schemas.openxmlformats.org/drawingml/2006/main"/>
        </p:blipFill>
        <p:spPr>
          <a:xfrm xmlns:a="http://schemas.openxmlformats.org/drawingml/2006/main">
            <a:off x="9201150" y="3333750"/>
            <a:ext cx="1657350" cy="1657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23B0274-C230-4485-80BF-AA895554F781}"/>
              </a:ext>
            </a:extLst>
          </p:cNvPr>
          <p:cNvSpPr>
            <a:spLocks xmlns:a="http://schemas.openxmlformats.org/drawingml/2006/main" noGrp="1"/>
          </p:cNvSpPr>
          <p:nvPr/>
        </p:nvSpPr>
        <p:spPr>
          <a:xfrm xmlns:a="http://schemas.openxmlformats.org/drawingml/2006/main">
            <a:off x="9105900" y="5086350"/>
            <a:ext cx="2419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1914"/>
                </a:solidFill>
                <a:latin typeface="Arial"/>
                <a:ea typeface="Arial"/>
                <a:cs typeface="Arial"/>
              </a:defRPr>
            </a:pPr>
            <a:r>
              <a:rPr sz="1575" b="1">
                <a:solidFill>
                  <a:srgbClr val="171914"/>
                </a:solidFill>
                <a:latin typeface="Arial"/>
                <a:ea typeface="Arial"/>
                <a:cs typeface="Arial"/>
              </a:rPr>
              <a:t>WILL HELTSLEY</a:t>
            </a:r>
          </a:p>
        </p:txBody>
      </p:sp>
    </p:spTree>
    <p:extLst>
      <p:ext uri="{BB962C8B-B14F-4D97-AF65-F5344CB8AC3E}">
        <p14:creationId xmlns:p14="http://schemas.microsoft.com/office/powerpoint/2010/main" val="914622506"/>
      </p:ext>
    </p:extLst>
  </p:cSld>
</p:sld>
</file>

<file path=ppt/slides/slide9.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CC3A82-D497-4967-BA4D-17C8722B310C}"/>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8AC7EE9C-E7D0-404B-9871-01DF31BF7DFA}"/>
              </a:ext>
            </a:extLst>
          </p:cNvPr>
          <p:cNvSpPr>
            <a:spLocks xmlns:a="http://schemas.openxmlformats.org/drawingml/2006/main" noGrp="1"/>
          </p:cNvSpPr>
          <p:nvPr/>
        </p:nvSpPr>
        <p:spPr>
          <a:xfrm xmlns:a="http://schemas.openxmlformats.org/drawingml/2006/main">
            <a:off x="685800" y="542925"/>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71914"/>
                </a:solidFill>
                <a:latin typeface="Arial"/>
                <a:ea typeface="Arial"/>
                <a:cs typeface="Arial"/>
              </a:defRPr>
            </a:pPr>
            <a:r>
              <a:rPr sz="3975" b="1">
                <a:solidFill>
                  <a:srgbClr val="171914"/>
                </a:solidFill>
                <a:latin typeface="Arial"/>
                <a:ea typeface="Arial"/>
                <a:cs typeface="Arial"/>
              </a:rPr>
              <a:t>STOPLINK</a:t>
            </a:r>
          </a:p>
        </p:txBody>
      </p:sp>
      <p:sp>
        <p:nvSpPr>
          <p:cNvPr id="3" name="">
            <a:extLst xmlns:a="http://schemas.openxmlformats.org/drawingml/2006/main">
              <a:ext uri="{FF2B5EF4-FFF2-40B4-BE49-F238E27FC236}">
                <a16:creationId xmlns:a16="http://schemas.microsoft.com/office/drawing/2014/main" id="{598298F0-3DB2-4F66-9A36-B1E505F149FF}"/>
              </a:ext>
            </a:extLst>
          </p:cNvPr>
          <p:cNvSpPr>
            <a:spLocks xmlns:a="http://schemas.openxmlformats.org/drawingml/2006/main" noGrp="1"/>
          </p:cNvSpPr>
          <p:nvPr/>
        </p:nvSpPr>
        <p:spPr>
          <a:xfrm xmlns:a="http://schemas.openxmlformats.org/drawingml/2006/main">
            <a:off x="619125" y="170497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Invest in dollars.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Get returns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 miles.</a:t>
            </a:r>
          </a:p>
        </p:txBody>
      </p:sp>
      <p:sp>
        <p:nvSpPr>
          <p:cNvPr id="4" name="">
            <a:extLst xmlns:a="http://schemas.openxmlformats.org/drawingml/2006/main">
              <a:ext uri="{FF2B5EF4-FFF2-40B4-BE49-F238E27FC236}">
                <a16:creationId xmlns:a16="http://schemas.microsoft.com/office/drawing/2014/main" id="{146A703B-8871-43C5-AAE5-AE38D100A1B0}"/>
              </a:ext>
            </a:extLst>
          </p:cNvPr>
          <p:cNvSpPr>
            <a:spLocks xmlns:a="http://schemas.openxmlformats.org/drawingml/2006/main" noGrp="1"/>
          </p:cNvSpPr>
          <p:nvPr/>
        </p:nvSpPr>
        <p:spPr>
          <a:xfrm xmlns:a="http://schemas.openxmlformats.org/drawingml/2006/main">
            <a:off x="723900" y="5553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4"/>
                </a:solidFill>
                <a:latin typeface="Arial"/>
                <a:ea typeface="Arial"/>
                <a:cs typeface="Arial"/>
              </a:defRPr>
            </a:pPr>
            <a:r>
              <a:rPr sz="3000" b="0">
                <a:solidFill>
                  <a:srgbClr val="171914"/>
                </a:solidFill>
                <a:latin typeface="Arial"/>
                <a:ea typeface="Arial"/>
                <a:cs typeface="Arial"/>
              </a:rPr>
              <a:t>Subject to availability.</a:t>
            </a:r>
          </a:p>
        </p:txBody>
      </p:sp>
    </p:spTree>
    <p:extLst>
      <p:ext uri="{BB962C8B-B14F-4D97-AF65-F5344CB8AC3E}">
        <p14:creationId xmlns:p14="http://schemas.microsoft.com/office/powerpoint/2010/main" val="1959830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2026-09-20T04:45:17.0070000Z</dcterms:created>
  <dcterms:modified xsi:type="dcterms:W3CDTF">2026-09-20T04:45:17.0070000Z</dcterms:modified>
</coreProperties>
</file>