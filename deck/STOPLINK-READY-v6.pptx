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e096fd24d634244" /><Relationship Type="http://schemas.openxmlformats.org/officeDocument/2006/relationships/extended-properties" Target="/docProps/app.xml" Id="R88bf28afa08e432b" /><Relationship Type="http://schemas.openxmlformats.org/officeDocument/2006/relationships/officeDocument" Target="/ppt/presentation.xml" Id="Rfec4a6395ea74374" /></Relationships>
</file>

<file path=ppt/presentation.xml><?xml version="1.0" encoding="utf-8"?>
<p:presentation xmlns:p="http://schemas.openxmlformats.org/presentationml/2006/main">
  <p:sldMasterIdLst>
    <p:sldMasterId xmlns:r="http://schemas.openxmlformats.org/officeDocument/2006/relationships" id="2147483648" r:id="R333c7789bf4e4eca"/>
  </p:sldMasterIdLst>
  <p:notesMasterIdLst>
    <p:notesMasterId xmlns:r="http://schemas.openxmlformats.org/officeDocument/2006/relationships" r:id="R04acce6950534d60"/>
  </p:notesMasterIdLst>
  <p:sldIdLst>
    <p:sldId xmlns:r="http://schemas.openxmlformats.org/officeDocument/2006/relationships" id="256" r:id="Re337a8684af446ce"/>
    <p:sldId xmlns:r="http://schemas.openxmlformats.org/officeDocument/2006/relationships" id="257" r:id="R21fc070653e34b95"/>
    <p:sldId xmlns:r="http://schemas.openxmlformats.org/officeDocument/2006/relationships" id="258" r:id="R5b0b353b165c449d"/>
    <p:sldId xmlns:r="http://schemas.openxmlformats.org/officeDocument/2006/relationships" id="259" r:id="R88e7e7993f704f73"/>
    <p:sldId xmlns:r="http://schemas.openxmlformats.org/officeDocument/2006/relationships" id="260" r:id="R95f0172403f94731"/>
    <p:sldId xmlns:r="http://schemas.openxmlformats.org/officeDocument/2006/relationships" id="261" r:id="R593f82b0219e4748"/>
    <p:sldId xmlns:r="http://schemas.openxmlformats.org/officeDocument/2006/relationships" id="262" r:id="R18b73ac62b684a53"/>
    <p:sldId xmlns:r="http://schemas.openxmlformats.org/officeDocument/2006/relationships" id="263" r:id="R4ba98a7018d34722"/>
    <p:sldId xmlns:r="http://schemas.openxmlformats.org/officeDocument/2006/relationships" id="264" r:id="R39b69da599f3472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d987d9b4e4a4d41" /><Relationship Type="http://schemas.openxmlformats.org/officeDocument/2006/relationships/slideMaster" Target="/ppt/slideMasters/slideMaster1.xml" Id="R333c7789bf4e4eca" /><Relationship Type="http://schemas.openxmlformats.org/officeDocument/2006/relationships/notesMaster" Target="/ppt/notesMasters/notesMaster1.xml" Id="R04acce6950534d60" /><Relationship Type="http://schemas.openxmlformats.org/officeDocument/2006/relationships/presProps" Target="/ppt/presProps.xml" Id="R54faccb2efdb4c8e" /><Relationship Type="http://schemas.openxmlformats.org/officeDocument/2006/relationships/tableStyles" Target="/ppt/tableStyles.xml" Id="Ra0d3c66988144975" /><Relationship Type="http://schemas.openxmlformats.org/officeDocument/2006/relationships/slide" Target="/ppt/slides/slide1.xml" Id="Re337a8684af446ce" /><Relationship Type="http://schemas.openxmlformats.org/officeDocument/2006/relationships/slide" Target="/ppt/slides/slide2.xml" Id="R21fc070653e34b95" /><Relationship Type="http://schemas.openxmlformats.org/officeDocument/2006/relationships/slide" Target="/ppt/slides/slide3.xml" Id="R5b0b353b165c449d" /><Relationship Type="http://schemas.openxmlformats.org/officeDocument/2006/relationships/slide" Target="/ppt/slides/slide4.xml" Id="R88e7e7993f704f73" /><Relationship Type="http://schemas.openxmlformats.org/officeDocument/2006/relationships/slide" Target="/ppt/slides/slide5.xml" Id="R95f0172403f94731" /><Relationship Type="http://schemas.openxmlformats.org/officeDocument/2006/relationships/slide" Target="/ppt/slides/slide6.xml" Id="R593f82b0219e4748" /><Relationship Type="http://schemas.openxmlformats.org/officeDocument/2006/relationships/slide" Target="/ppt/slides/slide7.xml" Id="R18b73ac62b684a53" /><Relationship Type="http://schemas.openxmlformats.org/officeDocument/2006/relationships/slide" Target="/ppt/slides/slide8.xml" Id="R4ba98a7018d34722" /><Relationship Type="http://schemas.openxmlformats.org/officeDocument/2006/relationships/slide" Target="/ppt/slides/slide9.xml" Id="R39b69da599f3472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9e50ad05e3743c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5edb357257e4450" /><Relationship Type="http://schemas.openxmlformats.org/officeDocument/2006/relationships/notesMaster" Target="/ppt/notesMasters/notesMaster1.xml" Id="Rcd21d54eb17740c0" /></Relationships>
</file>

<file path=ppt/notesSlides/_rels/notesSlide2.xml.rels>&#65279;<?xml version="1.0" encoding="utf-8"?><Relationships xmlns="http://schemas.openxmlformats.org/package/2006/relationships"><Relationship Type="http://schemas.openxmlformats.org/officeDocument/2006/relationships/slide" Target="/ppt/slides/slide2.xml" Id="R629ad03e0e7744a4" /><Relationship Type="http://schemas.openxmlformats.org/officeDocument/2006/relationships/notesMaster" Target="/ppt/notesMasters/notesMaster1.xml" Id="R0f9ce4869e4b4e4a" /></Relationships>
</file>

<file path=ppt/notesSlides/_rels/notesSlide3.xml.rels>&#65279;<?xml version="1.0" encoding="utf-8"?><Relationships xmlns="http://schemas.openxmlformats.org/package/2006/relationships"><Relationship Type="http://schemas.openxmlformats.org/officeDocument/2006/relationships/slide" Target="/ppt/slides/slide3.xml" Id="R43aaa85461604226" /><Relationship Type="http://schemas.openxmlformats.org/officeDocument/2006/relationships/notesMaster" Target="/ppt/notesMasters/notesMaster1.xml" Id="R5d701f6e02d94fb5" /></Relationships>
</file>

<file path=ppt/notesSlides/_rels/notesSlide4.xml.rels>&#65279;<?xml version="1.0" encoding="utf-8"?><Relationships xmlns="http://schemas.openxmlformats.org/package/2006/relationships"><Relationship Type="http://schemas.openxmlformats.org/officeDocument/2006/relationships/slide" Target="/ppt/slides/slide4.xml" Id="Re56de2fdfc954791" /><Relationship Type="http://schemas.openxmlformats.org/officeDocument/2006/relationships/notesMaster" Target="/ppt/notesMasters/notesMaster1.xml" Id="Rd73ddb54434c4a87" /></Relationships>
</file>

<file path=ppt/notesSlides/_rels/notesSlide5.xml.rels>&#65279;<?xml version="1.0" encoding="utf-8"?><Relationships xmlns="http://schemas.openxmlformats.org/package/2006/relationships"><Relationship Type="http://schemas.openxmlformats.org/officeDocument/2006/relationships/slide" Target="/ppt/slides/slide5.xml" Id="R9ddb76e78d834490" /><Relationship Type="http://schemas.openxmlformats.org/officeDocument/2006/relationships/notesMaster" Target="/ppt/notesMasters/notesMaster1.xml" Id="Rd3fc82845a524822" /></Relationships>
</file>

<file path=ppt/notesSlides/_rels/notesSlide6.xml.rels>&#65279;<?xml version="1.0" encoding="utf-8"?><Relationships xmlns="http://schemas.openxmlformats.org/package/2006/relationships"><Relationship Type="http://schemas.openxmlformats.org/officeDocument/2006/relationships/slide" Target="/ppt/slides/slide6.xml" Id="Rdded816bb509405d" /><Relationship Type="http://schemas.openxmlformats.org/officeDocument/2006/relationships/notesMaster" Target="/ppt/notesMasters/notesMaster1.xml" Id="R0f961d0b13ea44ef" /></Relationships>
</file>

<file path=ppt/notesSlides/_rels/notesSlide7.xml.rels>&#65279;<?xml version="1.0" encoding="utf-8"?><Relationships xmlns="http://schemas.openxmlformats.org/package/2006/relationships"><Relationship Type="http://schemas.openxmlformats.org/officeDocument/2006/relationships/slide" Target="/ppt/slides/slide7.xml" Id="R7e25a012bffd4e0c" /><Relationship Type="http://schemas.openxmlformats.org/officeDocument/2006/relationships/notesMaster" Target="/ppt/notesMasters/notesMaster1.xml" Id="R93139b5829e94999" /></Relationships>
</file>

<file path=ppt/notesSlides/_rels/notesSlide8.xml.rels>&#65279;<?xml version="1.0" encoding="utf-8"?><Relationships xmlns="http://schemas.openxmlformats.org/package/2006/relationships"><Relationship Type="http://schemas.openxmlformats.org/officeDocument/2006/relationships/slide" Target="/ppt/slides/slide8.xml" Id="R0e649fb898af4cf6" /><Relationship Type="http://schemas.openxmlformats.org/officeDocument/2006/relationships/notesMaster" Target="/ppt/notesMasters/notesMaster1.xml" Id="R129917e2579140bf" /></Relationships>
</file>

<file path=ppt/notesSlides/_rels/notesSlide9.xml.rels>&#65279;<?xml version="1.0" encoding="utf-8"?><Relationships xmlns="http://schemas.openxmlformats.org/package/2006/relationships"><Relationship Type="http://schemas.openxmlformats.org/officeDocument/2006/relationships/slide" Target="/ppt/slides/slide9.xml" Id="Rd43f3b214a144106" /><Relationship Type="http://schemas.openxmlformats.org/officeDocument/2006/relationships/notesMaster" Target="/ppt/notesMasters/notesMaster1.xml" Id="R85f94b20c80247e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**PARKER:** STOPLINK builds orbital data centers for truck stops. We host the essential infrastructure of the American interstate.</a:t>
            </a:r>
          </a:p>
          <a:p xmlns:a="http://schemas.openxmlformats.org/drawingml/2006/main">
            <a:r>
              <a:t/>
            </a:r>
          </a:p>
          <a:p xmlns:a="http://schemas.openxmlformats.org/drawingml/2006/main">
            <a:r>
              <a:t>*[Dead straight.]*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**PARKER:** Specifically, a rewards app. Truck stops buy airline miles from us to reward diesel purchases and keep drivers coming back. Drivers redeem those miles for flights on existing airlines. The app lives in our orbital data center.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**NADAV:** A driver buys diesel. The purchase reaches our app in orbit. The app updates their miles balance and lets them book a flight. That is it.</a:t>
            </a:r>
          </a:p>
          <a:p xmlns:a="http://schemas.openxmlformats.org/drawingml/2006/main">
            <a:r>
              <a:t/>
            </a:r>
          </a:p>
          <a:p xmlns:a="http://schemas.openxmlformats.org/drawingml/2006/main">
            <a:r>
              <a:t>**PATRICK:** It is literally just hosting the fucking app. We have made a gas-station rewards database launch-critical.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**PARKER:** We sell miles. One hundred percent of our planned revenue. We are not selling compute, and we are not an airline.</a:t>
            </a:r>
          </a:p>
          <a:p xmlns:a="http://schemas.openxmlformats.org/drawingml/2006/main">
            <a:r>
              <a:t/>
            </a:r>
          </a:p>
          <a:p xmlns:a="http://schemas.openxmlformats.org/drawingml/2006/main">
            <a:r>
              <a:t>**PATRICK:** People who drive for a living earn enough points to finally stop fucking driving.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**PARKER:** Truck stops pay us for miles. Drivers earn them on fuel and food. When drivers redeem, we buy an actual airline ticket. We keep the difference after rewards and operating costs.</a:t>
            </a:r>
          </a:p>
          <a:p xmlns:a="http://schemas.openxmlformats.org/drawingml/2006/main">
            <a:r>
              <a:t/>
            </a:r>
          </a:p>
          <a:p xmlns:a="http://schemas.openxmlformats.org/drawingml/2006/main">
            <a:r>
              <a:t>**PATRICK:** The first airline with no airplanes. Our fleet has never been late. Our fleet is a font.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**NADAV:** We were worried about AWS, control of our data, and regulators. So we spent six hundred million dollars moving the app to space.</a:t>
            </a:r>
          </a:p>
          <a:p xmlns:a="http://schemas.openxmlformats.org/drawingml/2006/main">
            <a:r>
              <a:t/>
            </a:r>
          </a:p>
          <a:p xmlns:a="http://schemas.openxmlformats.org/drawingml/2006/main">
            <a:r>
              <a:t>**PATRICK:** AWS asked us to pick a region. Nadav selected “away.”</a:t>
            </a:r>
          </a:p>
          <a:p xmlns:a="http://schemas.openxmlformats.org/drawingml/2006/main">
            <a:r>
              <a:t/>
            </a:r>
          </a:p>
          <a:p xmlns:a="http://schemas.openxmlformats.org/drawingml/2006/main">
            <a:r>
              <a:t>**PARKER:** Our lawyer said orbit does not fix the regulatory problem.</a:t>
            </a:r>
          </a:p>
          <a:p xmlns:a="http://schemas.openxmlformats.org/drawingml/2006/main">
            <a:r>
              <a:t/>
            </a:r>
          </a:p>
          <a:p xmlns:a="http://schemas.openxmlformats.org/drawingml/2006/main">
            <a:r>
              <a:t>**PATRICK:** We asked Will how much higher the rocket goes.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**PATRICK:** Nadav and Parker are both Forbes 30 Under 30. I am Patrick, the emergency contact. They each get one phone call.</a:t>
            </a:r>
          </a:p>
          <a:p xmlns:a="http://schemas.openxmlformats.org/drawingml/2006/main">
            <a:r>
              <a:t/>
            </a:r>
          </a:p>
          <a:p xmlns:a="http://schemas.openxmlformats.org/drawingml/2006/main">
            <a:r>
              <a:t>*[Pause. Optional tag: I am also the guy in the documentary saying, “Looking back, there were signs.”]*</a:t>
            </a:r>
          </a:p>
          <a:p xmlns:a="http://schemas.openxmlformats.org/drawingml/2006/main">
            <a:r>
              <a:t/>
            </a:r>
          </a:p>
          <a:p xmlns:a="http://schemas.openxmlformats.org/drawingml/2006/main">
            <a:r>
              <a:t>**PATRICK:** I beat the Starship guys at racing. So I’ve already delivered a loss to Starship. This time I’m asking them to invest in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**NADAV:** Will spent twelve years at SpaceX.</a:t>
            </a:r>
          </a:p>
          <a:p xmlns:a="http://schemas.openxmlformats.org/drawingml/2006/main">
            <a:r>
              <a:t/>
            </a:r>
          </a:p>
          <a:p xmlns:a="http://schemas.openxmlformats.org/drawingml/2006/main">
            <a:r>
              <a:t>**PATRICK:** We spent twelve minutes with his headshot. Due diligence complete.</a:t>
            </a:r>
          </a:p>
          <a:p xmlns:a="http://schemas.openxmlformats.org/drawingml/2006/main">
            <a:r>
              <a:t/>
            </a:r>
          </a:p>
          <a:p xmlns:a="http://schemas.openxmlformats.org/drawingml/2006/main">
            <a:r>
              <a:t>*[Pause.]*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**PARKER:** Truck stops are the customers. Miles are the product. The orbital data center hosts the app.</a:t>
            </a:r>
          </a:p>
          <a:p xmlns:a="http://schemas.openxmlformats.org/drawingml/2006/main">
            <a:r>
              <a:t/>
            </a:r>
          </a:p>
          <a:p xmlns:a="http://schemas.openxmlformats.org/drawingml/2006/main">
            <a:r>
              <a:t>**NADAV:** Invest in dollars.</a:t>
            </a:r>
          </a:p>
          <a:p xmlns:a="http://schemas.openxmlformats.org/drawingml/2006/main">
            <a:r>
              <a:t/>
            </a:r>
          </a:p>
          <a:p xmlns:a="http://schemas.openxmlformats.org/drawingml/2006/main">
            <a:r>
              <a:t>**PATRICK:** Get returns in miles. Subject to availability.</a:t>
            </a:r>
          </a:p>
          <a:p xmlns:a="http://schemas.openxmlformats.org/drawingml/2006/main">
            <a:r>
              <a:t/>
            </a:r>
          </a:p>
          <a:p xmlns:a="http://schemas.openxmlformats.org/drawingml/2006/main">
            <a:r>
              <a:t>*[Stop.]*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fb36731b9234a9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09e71deb4a34909" /><Relationship Type="http://schemas.openxmlformats.org/officeDocument/2006/relationships/slideLayout" Target="/ppt/slideLayouts/slideLayout1.xml" Id="Rd5bc0cd5b93f44f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5bc0cd5b93f44f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6374fe1d7ea4561" /><Relationship Type="http://schemas.openxmlformats.org/officeDocument/2006/relationships/image" Target="/ppt/media/image.png" Id="R50462f9537df407e" /><Relationship Type="http://schemas.openxmlformats.org/officeDocument/2006/relationships/notesSlide" Target="/ppt/notesSlides/notesSlide1.xml" Id="Rafb03c1705004a1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8de5ef130b849e6" /><Relationship Type="http://schemas.openxmlformats.org/officeDocument/2006/relationships/notesSlide" Target="/ppt/notesSlides/notesSlide2.xml" Id="R5bc545f6679f46a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d2b2f97eb144a9b" /><Relationship Type="http://schemas.openxmlformats.org/officeDocument/2006/relationships/notesSlide" Target="/ppt/notesSlides/notesSlide3.xml" Id="R119574afbc6741d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ebf2c9582834928" /><Relationship Type="http://schemas.openxmlformats.org/officeDocument/2006/relationships/notesSlide" Target="/ppt/notesSlides/notesSlide4.xml" Id="R15488817b73f44c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fbd2c31f36047e5" /><Relationship Type="http://schemas.openxmlformats.org/officeDocument/2006/relationships/notesSlide" Target="/ppt/notesSlides/notesSlide5.xml" Id="R1fa0f666fee6484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1eaeb92762746cd" /><Relationship Type="http://schemas.openxmlformats.org/officeDocument/2006/relationships/image" Target="/ppt/media/image.jpeg" Id="Rd67795d8aae04f4b" /><Relationship Type="http://schemas.openxmlformats.org/officeDocument/2006/relationships/notesSlide" Target="/ppt/notesSlides/notesSlide6.xml" Id="Rb4a51acbe823400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b483d48f08240a3" /><Relationship Type="http://schemas.openxmlformats.org/officeDocument/2006/relationships/image" Target="/ppt/media/image2.jpeg" Id="R87904dda43124516" /><Relationship Type="http://schemas.openxmlformats.org/officeDocument/2006/relationships/image" Target="/ppt/media/image2.png" Id="R72710cb7024f4068" /><Relationship Type="http://schemas.openxmlformats.org/officeDocument/2006/relationships/image" Target="/ppt/media/image3.png" Id="R7fbe4f7b68194198" /><Relationship Type="http://schemas.openxmlformats.org/officeDocument/2006/relationships/notesSlide" Target="/ppt/notesSlides/notesSlide7.xml" Id="R16e498ee4961405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bb1cc2522d246cd" /><Relationship Type="http://schemas.openxmlformats.org/officeDocument/2006/relationships/image" Target="/ppt/media/image4.png" Id="R5997215e4b27410d" /><Relationship Type="http://schemas.openxmlformats.org/officeDocument/2006/relationships/notesSlide" Target="/ppt/notesSlides/notesSlide8.xml" Id="Rcdbe2cf838dc44d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154dd355da84f4a" /><Relationship Type="http://schemas.openxmlformats.org/officeDocument/2006/relationships/notesSlide" Target="/ppt/notesSlides/notesSlide9.xml" Id="Ra12c9bda87d24dcb" /></Relationships>
</file>

<file path=ppt/slides/slide1.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01AE0D1-B5AB-4C5A-86AD-8560DE0121B9}"/>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6B63"/>
                </a:solidFill>
                <a:latin typeface="Arial"/>
                <a:ea typeface="Arial"/>
                <a:cs typeface="Arial"/>
              </a:defRPr>
            </a:pPr>
            <a:r>
              <a:rPr sz="1200" b="0">
                <a:solidFill>
                  <a:srgbClr val="686B63"/>
                </a:solidFill>
                <a:latin typeface="Arial"/>
                <a:ea typeface="Arial"/>
                <a:cs typeface="Arial"/>
              </a:rPr>
              <a:t>01</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50462f9537df407e"/>
          <a:stretch xmlns:a="http://schemas.openxmlformats.org/drawingml/2006/main"/>
        </p:blipFill>
        <p:spPr>
          <a:xfrm xmlns:a="http://schemas.openxmlformats.org/drawingml/2006/main">
            <a:off x="571500" y="619125"/>
            <a:ext cx="4905375" cy="163512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5412589-4F68-453A-BAD3-CB06128D9F0C}"/>
              </a:ext>
            </a:extLst>
          </p:cNvPr>
          <p:cNvSpPr>
            <a:spLocks xmlns:a="http://schemas.openxmlformats.org/drawingml/2006/main" noGrp="1"/>
          </p:cNvSpPr>
          <p:nvPr/>
        </p:nvSpPr>
        <p:spPr>
          <a:xfrm xmlns:a="http://schemas.openxmlformats.org/drawingml/2006/main">
            <a:off x="609600" y="2619375"/>
            <a:ext cx="10906125"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171914"/>
                </a:solidFill>
                <a:latin typeface="Arial"/>
                <a:ea typeface="Arial"/>
                <a:cs typeface="Arial"/>
              </a:defRPr>
            </a:pPr>
            <a:r>
              <a:rPr sz="5400" b="1">
                <a:solidFill>
                  <a:srgbClr val="171914"/>
                </a:solidFill>
                <a:latin typeface="Arial"/>
                <a:ea typeface="Arial"/>
                <a:cs typeface="Arial"/>
              </a:rPr>
              <a:t>Orbital data centers.</a:t>
            </a:r>
          </a:p>
          <a:p xmlns:a="http://schemas.openxmlformats.org/drawingml/2006/main">
            <a:pPr>
              <a:defRPr sz="5400" b="1">
                <a:solidFill>
                  <a:srgbClr val="171914"/>
                </a:solidFill>
                <a:latin typeface="Arial"/>
                <a:ea typeface="Arial"/>
                <a:cs typeface="Arial"/>
              </a:defRPr>
            </a:pPr>
            <a:r>
              <a:rPr sz="5400" b="1">
                <a:solidFill>
                  <a:srgbClr val="171914"/>
                </a:solidFill>
                <a:latin typeface="Arial"/>
                <a:ea typeface="Arial"/>
                <a:cs typeface="Arial"/>
              </a:rPr>
              <a:t>For truck stops.</a:t>
            </a:r>
          </a:p>
        </p:txBody>
      </p:sp>
      <p:sp>
        <p:nvSpPr>
          <p:cNvPr id="4" name="">
            <a:extLst xmlns:a="http://schemas.openxmlformats.org/drawingml/2006/main">
              <a:ext uri="{FF2B5EF4-FFF2-40B4-BE49-F238E27FC236}">
                <a16:creationId xmlns:a16="http://schemas.microsoft.com/office/drawing/2014/main" id="{ED7F70A0-DCF7-4700-AF17-16C3F77346FB}"/>
              </a:ext>
            </a:extLst>
          </p:cNvPr>
          <p:cNvSpPr>
            <a:spLocks xmlns:a="http://schemas.openxmlformats.org/drawingml/2006/main" noGrp="1"/>
          </p:cNvSpPr>
          <p:nvPr/>
        </p:nvSpPr>
        <p:spPr>
          <a:xfrm xmlns:a="http://schemas.openxmlformats.org/drawingml/2006/main">
            <a:off x="685800" y="5400675"/>
            <a:ext cx="552450" cy="552450"/>
          </a:xfrm>
          <a:prstGeom xmlns:a="http://schemas.openxmlformats.org/drawingml/2006/main" prst="rect">
            <a:avLst/>
          </a:prstGeom>
          <a:solidFill xmlns:a="http://schemas.openxmlformats.org/drawingml/2006/main">
            <a:srgbClr val="FF640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A38A48E-17D1-458B-B77B-70B3F992486E}"/>
              </a:ext>
            </a:extLst>
          </p:cNvPr>
          <p:cNvSpPr>
            <a:spLocks xmlns:a="http://schemas.openxmlformats.org/drawingml/2006/main" noGrp="1"/>
          </p:cNvSpPr>
          <p:nvPr/>
        </p:nvSpPr>
        <p:spPr>
          <a:xfrm xmlns:a="http://schemas.openxmlformats.org/drawingml/2006/main">
            <a:off x="809625" y="5438775"/>
            <a:ext cx="4381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0">
                <a:solidFill>
                  <a:srgbClr val="FFFFFF"/>
                </a:solidFill>
                <a:latin typeface="Arial"/>
                <a:ea typeface="Arial"/>
                <a:cs typeface="Arial"/>
              </a:defRPr>
            </a:pPr>
            <a:r>
              <a:rPr sz="3225" b="0">
                <a:solidFill>
                  <a:srgbClr val="FFFFFF"/>
                </a:solidFill>
                <a:latin typeface="Arial"/>
                <a:ea typeface="Arial"/>
                <a:cs typeface="Arial"/>
              </a:rPr>
              <a:t>Y</a:t>
            </a:r>
          </a:p>
        </p:txBody>
      </p:sp>
      <p:sp>
        <p:nvSpPr>
          <p:cNvPr id="6" name="">
            <a:extLst xmlns:a="http://schemas.openxmlformats.org/drawingml/2006/main">
              <a:ext uri="{FF2B5EF4-FFF2-40B4-BE49-F238E27FC236}">
                <a16:creationId xmlns:a16="http://schemas.microsoft.com/office/drawing/2014/main" id="{E6DE37F6-45E7-482F-A0F5-6D1C6F199952}"/>
              </a:ext>
            </a:extLst>
          </p:cNvPr>
          <p:cNvSpPr>
            <a:spLocks xmlns:a="http://schemas.openxmlformats.org/drawingml/2006/main" noGrp="1"/>
          </p:cNvSpPr>
          <p:nvPr/>
        </p:nvSpPr>
        <p:spPr>
          <a:xfrm xmlns:a="http://schemas.openxmlformats.org/drawingml/2006/main">
            <a:off x="1409700" y="5467350"/>
            <a:ext cx="876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1914"/>
                </a:solidFill>
                <a:latin typeface="Arial"/>
                <a:ea typeface="Arial"/>
                <a:cs typeface="Arial"/>
              </a:defRPr>
            </a:pPr>
            <a:r>
              <a:rPr sz="2100" b="1">
                <a:solidFill>
                  <a:srgbClr val="171914"/>
                </a:solidFill>
                <a:latin typeface="Arial"/>
                <a:ea typeface="Arial"/>
                <a:cs typeface="Arial"/>
              </a:rPr>
              <a:t>SUMMER ’26  /  DECK 1</a:t>
            </a:r>
          </a:p>
        </p:txBody>
      </p:sp>
    </p:spTree>
    <p:extLst>
      <p:ext uri="{BB962C8B-B14F-4D97-AF65-F5344CB8AC3E}">
        <p14:creationId xmlns:p14="http://schemas.microsoft.com/office/powerpoint/2010/main" val="1295726980"/>
      </p:ext>
    </p:extLst>
  </p:cSld>
</p:sld>
</file>

<file path=ppt/slides/slide2.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3826688-4B3E-4514-8124-42F9F89BD2A9}"/>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6B63"/>
                </a:solidFill>
                <a:latin typeface="Arial"/>
                <a:ea typeface="Arial"/>
                <a:cs typeface="Arial"/>
              </a:defRPr>
            </a:pPr>
            <a:r>
              <a:rPr sz="1200" b="0">
                <a:solidFill>
                  <a:srgbClr val="686B63"/>
                </a:solidFill>
                <a:latin typeface="Arial"/>
                <a:ea typeface="Arial"/>
                <a:cs typeface="Arial"/>
              </a:rPr>
              <a:t>02</a:t>
            </a:r>
          </a:p>
        </p:txBody>
      </p:sp>
      <p:sp>
        <p:nvSpPr>
          <p:cNvPr id="2" name="">
            <a:extLst xmlns:a="http://schemas.openxmlformats.org/drawingml/2006/main">
              <a:ext uri="{FF2B5EF4-FFF2-40B4-BE49-F238E27FC236}">
                <a16:creationId xmlns:a16="http://schemas.microsoft.com/office/drawing/2014/main" id="{28540E51-CF71-47F4-87DC-09D14ED87500}"/>
              </a:ext>
            </a:extLst>
          </p:cNvPr>
          <p:cNvSpPr>
            <a:spLocks xmlns:a="http://schemas.openxmlformats.org/drawingml/2006/main" noGrp="1"/>
          </p:cNvSpPr>
          <p:nvPr/>
        </p:nvSpPr>
        <p:spPr>
          <a:xfrm xmlns:a="http://schemas.openxmlformats.org/drawingml/2006/main">
            <a:off x="666750" y="5238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F6400"/>
                </a:solidFill>
                <a:latin typeface="Arial"/>
                <a:ea typeface="Arial"/>
                <a:cs typeface="Arial"/>
              </a:defRPr>
            </a:pPr>
            <a:r>
              <a:rPr sz="1725" b="1">
                <a:solidFill>
                  <a:srgbClr val="FF6400"/>
                </a:solidFill>
                <a:latin typeface="Arial"/>
                <a:ea typeface="Arial"/>
                <a:cs typeface="Arial"/>
              </a:rPr>
              <a:t>WHAT WE DO</a:t>
            </a:r>
          </a:p>
        </p:txBody>
      </p:sp>
      <p:sp>
        <p:nvSpPr>
          <p:cNvPr id="3" name="">
            <a:extLst xmlns:a="http://schemas.openxmlformats.org/drawingml/2006/main">
              <a:ext uri="{FF2B5EF4-FFF2-40B4-BE49-F238E27FC236}">
                <a16:creationId xmlns:a16="http://schemas.microsoft.com/office/drawing/2014/main" id="{40F17B0C-4FB9-484A-9D68-2FEAD969FDDF}"/>
              </a:ext>
            </a:extLst>
          </p:cNvPr>
          <p:cNvSpPr>
            <a:spLocks xmlns:a="http://schemas.openxmlformats.org/drawingml/2006/main" noGrp="1"/>
          </p:cNvSpPr>
          <p:nvPr/>
        </p:nvSpPr>
        <p:spPr>
          <a:xfrm xmlns:a="http://schemas.openxmlformats.org/drawingml/2006/main">
            <a:off x="647700" y="1200150"/>
            <a:ext cx="1076325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00" b="1">
                <a:solidFill>
                  <a:srgbClr val="171914"/>
                </a:solidFill>
                <a:latin typeface="Arial"/>
                <a:ea typeface="Arial"/>
                <a:cs typeface="Arial"/>
              </a:defRPr>
            </a:pPr>
            <a:r>
              <a:rPr sz="5100" b="1">
                <a:solidFill>
                  <a:srgbClr val="171914"/>
                </a:solidFill>
                <a:latin typeface="Arial"/>
                <a:ea typeface="Arial"/>
                <a:cs typeface="Arial"/>
              </a:rPr>
              <a:t>We sell airline miles</a:t>
            </a:r>
          </a:p>
          <a:p xmlns:a="http://schemas.openxmlformats.org/drawingml/2006/main">
            <a:pPr>
              <a:defRPr sz="5100" b="1">
                <a:solidFill>
                  <a:srgbClr val="171914"/>
                </a:solidFill>
                <a:latin typeface="Arial"/>
                <a:ea typeface="Arial"/>
                <a:cs typeface="Arial"/>
              </a:defRPr>
            </a:pPr>
            <a:r>
              <a:rPr sz="5100" b="1">
                <a:solidFill>
                  <a:srgbClr val="171914"/>
                </a:solidFill>
                <a:latin typeface="Arial"/>
                <a:ea typeface="Arial"/>
                <a:cs typeface="Arial"/>
              </a:rPr>
              <a:t>to truck stops.</a:t>
            </a:r>
          </a:p>
        </p:txBody>
      </p:sp>
      <p:sp>
        <p:nvSpPr>
          <p:cNvPr id="4" name="">
            <a:extLst xmlns:a="http://schemas.openxmlformats.org/drawingml/2006/main">
              <a:ext uri="{FF2B5EF4-FFF2-40B4-BE49-F238E27FC236}">
                <a16:creationId xmlns:a16="http://schemas.microsoft.com/office/drawing/2014/main" id="{C90A37CF-7790-4320-A4DB-CCD302B16871}"/>
              </a:ext>
            </a:extLst>
          </p:cNvPr>
          <p:cNvSpPr>
            <a:spLocks xmlns:a="http://schemas.openxmlformats.org/drawingml/2006/main" noGrp="1"/>
          </p:cNvSpPr>
          <p:nvPr/>
        </p:nvSpPr>
        <p:spPr>
          <a:xfrm xmlns:a="http://schemas.openxmlformats.org/drawingml/2006/main">
            <a:off x="723900" y="3286125"/>
            <a:ext cx="1066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1914"/>
                </a:solidFill>
                <a:latin typeface="Arial"/>
                <a:ea typeface="Arial"/>
                <a:cs typeface="Arial"/>
              </a:defRPr>
            </a:pPr>
            <a:r>
              <a:rPr sz="2550" b="0">
                <a:solidFill>
                  <a:srgbClr val="171914"/>
                </a:solidFill>
                <a:latin typeface="Arial"/>
                <a:ea typeface="Arial"/>
                <a:cs typeface="Arial"/>
              </a:rPr>
              <a:t>Truck stops buy miles to reward diesel purchases.</a:t>
            </a:r>
          </a:p>
        </p:txBody>
      </p:sp>
      <p:sp>
        <p:nvSpPr>
          <p:cNvPr id="5" name="">
            <a:extLst xmlns:a="http://schemas.openxmlformats.org/drawingml/2006/main">
              <a:ext uri="{FF2B5EF4-FFF2-40B4-BE49-F238E27FC236}">
                <a16:creationId xmlns:a16="http://schemas.microsoft.com/office/drawing/2014/main" id="{F3020B9F-0F29-48A1-A95A-FBE2EA74951A}"/>
              </a:ext>
            </a:extLst>
          </p:cNvPr>
          <p:cNvSpPr>
            <a:spLocks xmlns:a="http://schemas.openxmlformats.org/drawingml/2006/main" noGrp="1"/>
          </p:cNvSpPr>
          <p:nvPr/>
        </p:nvSpPr>
        <p:spPr>
          <a:xfrm xmlns:a="http://schemas.openxmlformats.org/drawingml/2006/main">
            <a:off x="723900" y="4000500"/>
            <a:ext cx="1066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1914"/>
                </a:solidFill>
                <a:latin typeface="Arial"/>
                <a:ea typeface="Arial"/>
                <a:cs typeface="Arial"/>
              </a:defRPr>
            </a:pPr>
            <a:r>
              <a:rPr sz="2550" b="0">
                <a:solidFill>
                  <a:srgbClr val="171914"/>
                </a:solidFill>
                <a:latin typeface="Arial"/>
                <a:ea typeface="Arial"/>
                <a:cs typeface="Arial"/>
              </a:rPr>
              <a:t>Drivers redeem them for flights on existing airlines.</a:t>
            </a:r>
          </a:p>
        </p:txBody>
      </p:sp>
      <p:sp>
        <p:nvSpPr>
          <p:cNvPr id="6" name="">
            <a:extLst xmlns:a="http://schemas.openxmlformats.org/drawingml/2006/main">
              <a:ext uri="{FF2B5EF4-FFF2-40B4-BE49-F238E27FC236}">
                <a16:creationId xmlns:a16="http://schemas.microsoft.com/office/drawing/2014/main" id="{41AE1E06-0404-42FA-8907-E8633E59540B}"/>
              </a:ext>
            </a:extLst>
          </p:cNvPr>
          <p:cNvSpPr>
            <a:spLocks xmlns:a="http://schemas.openxmlformats.org/drawingml/2006/main" noGrp="1"/>
          </p:cNvSpPr>
          <p:nvPr/>
        </p:nvSpPr>
        <p:spPr>
          <a:xfrm xmlns:a="http://schemas.openxmlformats.org/drawingml/2006/main">
            <a:off x="723900" y="5248275"/>
            <a:ext cx="10668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6400"/>
                </a:solidFill>
                <a:latin typeface="Arial"/>
                <a:ea typeface="Arial"/>
                <a:cs typeface="Arial"/>
              </a:defRPr>
            </a:pPr>
            <a:r>
              <a:rPr sz="2850" b="1">
                <a:solidFill>
                  <a:srgbClr val="FF6400"/>
                </a:solidFill>
                <a:latin typeface="Arial"/>
                <a:ea typeface="Arial"/>
                <a:cs typeface="Arial"/>
              </a:rPr>
              <a:t>The loyalty app lives in an orbital data center.</a:t>
            </a:r>
          </a:p>
        </p:txBody>
      </p:sp>
    </p:spTree>
    <p:extLst>
      <p:ext uri="{BB962C8B-B14F-4D97-AF65-F5344CB8AC3E}">
        <p14:creationId xmlns:p14="http://schemas.microsoft.com/office/powerpoint/2010/main" val="2142647189"/>
      </p:ext>
    </p:extLst>
  </p:cSld>
</p:sld>
</file>

<file path=ppt/slides/slide3.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077F86E-F109-4F99-97FB-A04CB36402CB}"/>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6B63"/>
                </a:solidFill>
                <a:latin typeface="Arial"/>
                <a:ea typeface="Arial"/>
                <a:cs typeface="Arial"/>
              </a:defRPr>
            </a:pPr>
            <a:r>
              <a:rPr sz="1200" b="0">
                <a:solidFill>
                  <a:srgbClr val="686B63"/>
                </a:solidFill>
                <a:latin typeface="Arial"/>
                <a:ea typeface="Arial"/>
                <a:cs typeface="Arial"/>
              </a:rPr>
              <a:t>03</a:t>
            </a:r>
          </a:p>
        </p:txBody>
      </p:sp>
      <p:sp>
        <p:nvSpPr>
          <p:cNvPr id="2" name="">
            <a:extLst xmlns:a="http://schemas.openxmlformats.org/drawingml/2006/main">
              <a:ext uri="{FF2B5EF4-FFF2-40B4-BE49-F238E27FC236}">
                <a16:creationId xmlns:a16="http://schemas.microsoft.com/office/drawing/2014/main" id="{CED3B57A-18EA-49B3-A31D-04A2FC728997}"/>
              </a:ext>
            </a:extLst>
          </p:cNvPr>
          <p:cNvSpPr>
            <a:spLocks xmlns:a="http://schemas.openxmlformats.org/drawingml/2006/main" noGrp="1"/>
          </p:cNvSpPr>
          <p:nvPr/>
        </p:nvSpPr>
        <p:spPr>
          <a:xfrm xmlns:a="http://schemas.openxmlformats.org/drawingml/2006/main">
            <a:off x="666750" y="523875"/>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F6400"/>
                </a:solidFill>
                <a:latin typeface="Arial"/>
                <a:ea typeface="Arial"/>
                <a:cs typeface="Arial"/>
              </a:defRPr>
            </a:pPr>
            <a:r>
              <a:rPr sz="1725" b="1">
                <a:solidFill>
                  <a:srgbClr val="FF6400"/>
                </a:solidFill>
                <a:latin typeface="Arial"/>
                <a:ea typeface="Arial"/>
                <a:cs typeface="Arial"/>
              </a:rPr>
              <a:t>THE ORBITAL LAYER</a:t>
            </a:r>
          </a:p>
        </p:txBody>
      </p:sp>
      <p:sp>
        <p:nvSpPr>
          <p:cNvPr id="3" name="">
            <a:extLst xmlns:a="http://schemas.openxmlformats.org/drawingml/2006/main">
              <a:ext uri="{FF2B5EF4-FFF2-40B4-BE49-F238E27FC236}">
                <a16:creationId xmlns:a16="http://schemas.microsoft.com/office/drawing/2014/main" id="{D7368D6D-4B5C-43BE-8FFA-D8F2DA420BEB}"/>
              </a:ext>
            </a:extLst>
          </p:cNvPr>
          <p:cNvSpPr>
            <a:spLocks xmlns:a="http://schemas.openxmlformats.org/drawingml/2006/main" noGrp="1"/>
          </p:cNvSpPr>
          <p:nvPr/>
        </p:nvSpPr>
        <p:spPr>
          <a:xfrm xmlns:a="http://schemas.openxmlformats.org/drawingml/2006/main">
            <a:off x="647700" y="1333500"/>
            <a:ext cx="107632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75" b="1">
                <a:solidFill>
                  <a:srgbClr val="171914"/>
                </a:solidFill>
                <a:latin typeface="Arial"/>
                <a:ea typeface="Arial"/>
                <a:cs typeface="Arial"/>
              </a:defRPr>
            </a:pPr>
            <a:r>
              <a:rPr sz="4875" b="1">
                <a:solidFill>
                  <a:srgbClr val="171914"/>
                </a:solidFill>
                <a:latin typeface="Arial"/>
                <a:ea typeface="Arial"/>
                <a:cs typeface="Arial"/>
              </a:rPr>
              <a:t>The data center</a:t>
            </a:r>
          </a:p>
          <a:p xmlns:a="http://schemas.openxmlformats.org/drawingml/2006/main">
            <a:pPr>
              <a:defRPr sz="4875" b="1">
                <a:solidFill>
                  <a:srgbClr val="171914"/>
                </a:solidFill>
                <a:latin typeface="Arial"/>
                <a:ea typeface="Arial"/>
                <a:cs typeface="Arial"/>
              </a:defRPr>
            </a:pPr>
            <a:r>
              <a:rPr sz="4875" b="1">
                <a:solidFill>
                  <a:srgbClr val="171914"/>
                </a:solidFill>
                <a:latin typeface="Arial"/>
                <a:ea typeface="Arial"/>
                <a:cs typeface="Arial"/>
              </a:rPr>
              <a:t>hosts the app.</a:t>
            </a:r>
          </a:p>
        </p:txBody>
      </p:sp>
      <p:sp>
        <p:nvSpPr>
          <p:cNvPr id="4" name="">
            <a:extLst xmlns:a="http://schemas.openxmlformats.org/drawingml/2006/main">
              <a:ext uri="{FF2B5EF4-FFF2-40B4-BE49-F238E27FC236}">
                <a16:creationId xmlns:a16="http://schemas.microsoft.com/office/drawing/2014/main" id="{6BB91CD5-AE05-42D3-A834-EF7D0FD67C6D}"/>
              </a:ext>
            </a:extLst>
          </p:cNvPr>
          <p:cNvSpPr>
            <a:spLocks xmlns:a="http://schemas.openxmlformats.org/drawingml/2006/main" noGrp="1"/>
          </p:cNvSpPr>
          <p:nvPr/>
        </p:nvSpPr>
        <p:spPr>
          <a:xfrm xmlns:a="http://schemas.openxmlformats.org/drawingml/2006/main">
            <a:off x="685800" y="3543300"/>
            <a:ext cx="314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6400"/>
                </a:solidFill>
                <a:latin typeface="Arial"/>
                <a:ea typeface="Arial"/>
                <a:cs typeface="Arial"/>
              </a:defRPr>
            </a:pPr>
            <a:r>
              <a:rPr sz="2250" b="1">
                <a:solidFill>
                  <a:srgbClr val="FF6400"/>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B3B08B4D-CCF6-4A1B-8F36-5218B094AB4B}"/>
              </a:ext>
            </a:extLst>
          </p:cNvPr>
          <p:cNvSpPr>
            <a:spLocks xmlns:a="http://schemas.openxmlformats.org/drawingml/2006/main" noGrp="1"/>
          </p:cNvSpPr>
          <p:nvPr/>
        </p:nvSpPr>
        <p:spPr>
          <a:xfrm xmlns:a="http://schemas.openxmlformats.org/drawingml/2006/main">
            <a:off x="685800" y="413385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71914"/>
                </a:solidFill>
                <a:latin typeface="Arial"/>
                <a:ea typeface="Arial"/>
                <a:cs typeface="Arial"/>
              </a:defRPr>
            </a:pPr>
            <a:r>
              <a:rPr sz="2700" b="1">
                <a:solidFill>
                  <a:srgbClr val="171914"/>
                </a:solidFill>
                <a:latin typeface="Arial"/>
                <a:ea typeface="Arial"/>
                <a:cs typeface="Arial"/>
              </a:rPr>
              <a:t>Fuel purchase</a:t>
            </a:r>
          </a:p>
        </p:txBody>
      </p:sp>
      <p:sp>
        <p:nvSpPr>
          <p:cNvPr id="6" name="">
            <a:extLst xmlns:a="http://schemas.openxmlformats.org/drawingml/2006/main">
              <a:ext uri="{FF2B5EF4-FFF2-40B4-BE49-F238E27FC236}">
                <a16:creationId xmlns:a16="http://schemas.microsoft.com/office/drawing/2014/main" id="{F7282ECB-183B-4098-AE82-131EF1C45681}"/>
              </a:ext>
            </a:extLst>
          </p:cNvPr>
          <p:cNvSpPr>
            <a:spLocks xmlns:a="http://schemas.openxmlformats.org/drawingml/2006/main" noGrp="1"/>
          </p:cNvSpPr>
          <p:nvPr/>
        </p:nvSpPr>
        <p:spPr>
          <a:xfrm xmlns:a="http://schemas.openxmlformats.org/drawingml/2006/main">
            <a:off x="685800" y="4857750"/>
            <a:ext cx="3381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686B63"/>
                </a:solidFill>
                <a:latin typeface="Arial"/>
                <a:ea typeface="Arial"/>
                <a:cs typeface="Arial"/>
              </a:defRPr>
            </a:pPr>
            <a:r>
              <a:rPr sz="2025" b="0">
                <a:solidFill>
                  <a:srgbClr val="686B63"/>
                </a:solidFill>
                <a:latin typeface="Arial"/>
                <a:ea typeface="Arial"/>
                <a:cs typeface="Arial"/>
              </a:rPr>
              <a:t>Driver buys diesel</a:t>
            </a:r>
          </a:p>
        </p:txBody>
      </p:sp>
      <p:sp>
        <p:nvSpPr>
          <p:cNvPr id="7" name="">
            <a:extLst xmlns:a="http://schemas.openxmlformats.org/drawingml/2006/main">
              <a:ext uri="{FF2B5EF4-FFF2-40B4-BE49-F238E27FC236}">
                <a16:creationId xmlns:a16="http://schemas.microsoft.com/office/drawing/2014/main" id="{B0B7D831-26E6-4812-A5A9-FC15B6F28534}"/>
              </a:ext>
            </a:extLst>
          </p:cNvPr>
          <p:cNvSpPr>
            <a:spLocks xmlns:a="http://schemas.openxmlformats.org/drawingml/2006/main" noGrp="1"/>
          </p:cNvSpPr>
          <p:nvPr/>
        </p:nvSpPr>
        <p:spPr>
          <a:xfrm xmlns:a="http://schemas.openxmlformats.org/drawingml/2006/main">
            <a:off x="4400550" y="3543300"/>
            <a:ext cx="314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6400"/>
                </a:solidFill>
                <a:latin typeface="Arial"/>
                <a:ea typeface="Arial"/>
                <a:cs typeface="Arial"/>
              </a:defRPr>
            </a:pPr>
            <a:r>
              <a:rPr sz="2250" b="1">
                <a:solidFill>
                  <a:srgbClr val="FF6400"/>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43CD654A-6D0A-498D-A958-B45144C7F0E9}"/>
              </a:ext>
            </a:extLst>
          </p:cNvPr>
          <p:cNvSpPr>
            <a:spLocks xmlns:a="http://schemas.openxmlformats.org/drawingml/2006/main" noGrp="1"/>
          </p:cNvSpPr>
          <p:nvPr/>
        </p:nvSpPr>
        <p:spPr>
          <a:xfrm xmlns:a="http://schemas.openxmlformats.org/drawingml/2006/main">
            <a:off x="4400550" y="4133850"/>
            <a:ext cx="3619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71914"/>
                </a:solidFill>
                <a:latin typeface="Arial"/>
                <a:ea typeface="Arial"/>
                <a:cs typeface="Arial"/>
              </a:defRPr>
            </a:pPr>
            <a:r>
              <a:rPr sz="2850" b="1">
                <a:solidFill>
                  <a:srgbClr val="171914"/>
                </a:solidFill>
                <a:latin typeface="Arial"/>
                <a:ea typeface="Arial"/>
                <a:cs typeface="Arial"/>
              </a:rPr>
              <a:t>Orbital server</a:t>
            </a:r>
          </a:p>
        </p:txBody>
      </p:sp>
      <p:sp>
        <p:nvSpPr>
          <p:cNvPr id="9" name="">
            <a:extLst xmlns:a="http://schemas.openxmlformats.org/drawingml/2006/main">
              <a:ext uri="{FF2B5EF4-FFF2-40B4-BE49-F238E27FC236}">
                <a16:creationId xmlns:a16="http://schemas.microsoft.com/office/drawing/2014/main" id="{B4A2CFAE-29FE-4D71-9C02-4CDF13B94330}"/>
              </a:ext>
            </a:extLst>
          </p:cNvPr>
          <p:cNvSpPr>
            <a:spLocks xmlns:a="http://schemas.openxmlformats.org/drawingml/2006/main" noGrp="1"/>
          </p:cNvSpPr>
          <p:nvPr/>
        </p:nvSpPr>
        <p:spPr>
          <a:xfrm xmlns:a="http://schemas.openxmlformats.org/drawingml/2006/main">
            <a:off x="4400550" y="4857750"/>
            <a:ext cx="3619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686B63"/>
                </a:solidFill>
                <a:latin typeface="Arial"/>
                <a:ea typeface="Arial"/>
                <a:cs typeface="Arial"/>
              </a:defRPr>
            </a:pPr>
            <a:r>
              <a:rPr sz="1950" b="0">
                <a:solidFill>
                  <a:srgbClr val="686B63"/>
                </a:solidFill>
                <a:latin typeface="Arial"/>
                <a:ea typeface="Arial"/>
                <a:cs typeface="Arial"/>
              </a:rPr>
              <a:t>App + rewards database</a:t>
            </a:r>
          </a:p>
        </p:txBody>
      </p:sp>
      <p:sp>
        <p:nvSpPr>
          <p:cNvPr id="10" name="">
            <a:extLst xmlns:a="http://schemas.openxmlformats.org/drawingml/2006/main">
              <a:ext uri="{FF2B5EF4-FFF2-40B4-BE49-F238E27FC236}">
                <a16:creationId xmlns:a16="http://schemas.microsoft.com/office/drawing/2014/main" id="{4DB84862-7290-4B09-BF4F-AE78F31856DB}"/>
              </a:ext>
            </a:extLst>
          </p:cNvPr>
          <p:cNvSpPr>
            <a:spLocks xmlns:a="http://schemas.openxmlformats.org/drawingml/2006/main" noGrp="1"/>
          </p:cNvSpPr>
          <p:nvPr/>
        </p:nvSpPr>
        <p:spPr>
          <a:xfrm xmlns:a="http://schemas.openxmlformats.org/drawingml/2006/main">
            <a:off x="8324850" y="3543300"/>
            <a:ext cx="314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6400"/>
                </a:solidFill>
                <a:latin typeface="Arial"/>
                <a:ea typeface="Arial"/>
                <a:cs typeface="Arial"/>
              </a:defRPr>
            </a:pPr>
            <a:r>
              <a:rPr sz="2250" b="1">
                <a:solidFill>
                  <a:srgbClr val="FF6400"/>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87435E07-DBF2-42E4-A2FD-E62253358946}"/>
              </a:ext>
            </a:extLst>
          </p:cNvPr>
          <p:cNvSpPr>
            <a:spLocks xmlns:a="http://schemas.openxmlformats.org/drawingml/2006/main" noGrp="1"/>
          </p:cNvSpPr>
          <p:nvPr/>
        </p:nvSpPr>
        <p:spPr>
          <a:xfrm xmlns:a="http://schemas.openxmlformats.org/drawingml/2006/main">
            <a:off x="8324850" y="4133850"/>
            <a:ext cx="3286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71914"/>
                </a:solidFill>
                <a:latin typeface="Arial"/>
                <a:ea typeface="Arial"/>
                <a:cs typeface="Arial"/>
              </a:defRPr>
            </a:pPr>
            <a:r>
              <a:rPr sz="2700" b="1">
                <a:solidFill>
                  <a:srgbClr val="171914"/>
                </a:solidFill>
                <a:latin typeface="Arial"/>
                <a:ea typeface="Arial"/>
                <a:cs typeface="Arial"/>
              </a:rPr>
              <a:t>Airline miles</a:t>
            </a:r>
          </a:p>
        </p:txBody>
      </p:sp>
      <p:sp>
        <p:nvSpPr>
          <p:cNvPr id="12" name="">
            <a:extLst xmlns:a="http://schemas.openxmlformats.org/drawingml/2006/main">
              <a:ext uri="{FF2B5EF4-FFF2-40B4-BE49-F238E27FC236}">
                <a16:creationId xmlns:a16="http://schemas.microsoft.com/office/drawing/2014/main" id="{955A5D17-925C-4760-88E2-629A05900C62}"/>
              </a:ext>
            </a:extLst>
          </p:cNvPr>
          <p:cNvSpPr>
            <a:spLocks xmlns:a="http://schemas.openxmlformats.org/drawingml/2006/main" noGrp="1"/>
          </p:cNvSpPr>
          <p:nvPr/>
        </p:nvSpPr>
        <p:spPr>
          <a:xfrm xmlns:a="http://schemas.openxmlformats.org/drawingml/2006/main">
            <a:off x="8324850" y="4857750"/>
            <a:ext cx="328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86B63"/>
                </a:solidFill>
                <a:latin typeface="Arial"/>
                <a:ea typeface="Arial"/>
                <a:cs typeface="Arial"/>
              </a:defRPr>
            </a:pPr>
            <a:r>
              <a:rPr sz="1875" b="0">
                <a:solidFill>
                  <a:srgbClr val="686B63"/>
                </a:solidFill>
                <a:latin typeface="Arial"/>
                <a:ea typeface="Arial"/>
                <a:cs typeface="Arial"/>
              </a:rPr>
              <a:t>Balance + flight booking</a:t>
            </a:r>
          </a:p>
        </p:txBody>
      </p:sp>
    </p:spTree>
    <p:extLst>
      <p:ext uri="{BB962C8B-B14F-4D97-AF65-F5344CB8AC3E}">
        <p14:creationId xmlns:p14="http://schemas.microsoft.com/office/powerpoint/2010/main" val="85610095"/>
      </p:ext>
    </p:extLst>
  </p:cSld>
</p:sld>
</file>

<file path=ppt/slides/slide4.xml><?xml version="1.0" encoding="utf-8"?>
<p:sld xmlns:p="http://schemas.openxmlformats.org/presentationml/2006/main">
  <p:cSld>
    <p:bg>
      <p:bgPr>
        <a:solidFill xmlns:a="http://schemas.openxmlformats.org/drawingml/2006/main">
          <a:srgbClr val="FF640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301335C-FF9E-4AA3-8B58-BC81C16A1737}"/>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6B63"/>
                </a:solidFill>
                <a:latin typeface="Arial"/>
                <a:ea typeface="Arial"/>
                <a:cs typeface="Arial"/>
              </a:defRPr>
            </a:pPr>
            <a:r>
              <a:rPr sz="1200" b="0">
                <a:solidFill>
                  <a:srgbClr val="686B63"/>
                </a:solidFill>
                <a:latin typeface="Arial"/>
                <a:ea typeface="Arial"/>
                <a:cs typeface="Arial"/>
              </a:rPr>
              <a:t>04</a:t>
            </a:r>
          </a:p>
        </p:txBody>
      </p:sp>
      <p:sp>
        <p:nvSpPr>
          <p:cNvPr id="2" name="">
            <a:extLst xmlns:a="http://schemas.openxmlformats.org/drawingml/2006/main">
              <a:ext uri="{FF2B5EF4-FFF2-40B4-BE49-F238E27FC236}">
                <a16:creationId xmlns:a16="http://schemas.microsoft.com/office/drawing/2014/main" id="{07087DCD-4F4B-40F6-BF98-0907196C326D}"/>
              </a:ext>
            </a:extLst>
          </p:cNvPr>
          <p:cNvSpPr>
            <a:spLocks xmlns:a="http://schemas.openxmlformats.org/drawingml/2006/main" noGrp="1"/>
          </p:cNvSpPr>
          <p:nvPr/>
        </p:nvSpPr>
        <p:spPr>
          <a:xfrm xmlns:a="http://schemas.openxmlformats.org/drawingml/2006/main">
            <a:off x="666750" y="5238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71914"/>
                </a:solidFill>
                <a:latin typeface="Arial"/>
                <a:ea typeface="Arial"/>
                <a:cs typeface="Arial"/>
              </a:defRPr>
            </a:pPr>
            <a:r>
              <a:rPr sz="1800" b="1">
                <a:solidFill>
                  <a:srgbClr val="171914"/>
                </a:solidFill>
                <a:latin typeface="Arial"/>
                <a:ea typeface="Arial"/>
                <a:cs typeface="Arial"/>
              </a:rPr>
              <a:t>REVENUE MODEL</a:t>
            </a:r>
          </a:p>
        </p:txBody>
      </p:sp>
      <p:sp>
        <p:nvSpPr>
          <p:cNvPr id="3" name="">
            <a:extLst xmlns:a="http://schemas.openxmlformats.org/drawingml/2006/main">
              <a:ext uri="{FF2B5EF4-FFF2-40B4-BE49-F238E27FC236}">
                <a16:creationId xmlns:a16="http://schemas.microsoft.com/office/drawing/2014/main" id="{699FA30B-2A3D-4AEF-9FEA-8ED571C5911A}"/>
              </a:ext>
            </a:extLst>
          </p:cNvPr>
          <p:cNvSpPr>
            <a:spLocks xmlns:a="http://schemas.openxmlformats.org/drawingml/2006/main" noGrp="1"/>
          </p:cNvSpPr>
          <p:nvPr/>
        </p:nvSpPr>
        <p:spPr>
          <a:xfrm xmlns:a="http://schemas.openxmlformats.org/drawingml/2006/main">
            <a:off x="619125" y="1524000"/>
            <a:ext cx="108585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0" b="1">
                <a:solidFill>
                  <a:srgbClr val="171914"/>
                </a:solidFill>
                <a:latin typeface="Arial"/>
                <a:ea typeface="Arial"/>
                <a:cs typeface="Arial"/>
              </a:defRPr>
            </a:pPr>
            <a:r>
              <a:rPr sz="11250" b="1">
                <a:solidFill>
                  <a:srgbClr val="171914"/>
                </a:solidFill>
                <a:latin typeface="Arial"/>
                <a:ea typeface="Arial"/>
                <a:cs typeface="Arial"/>
              </a:rPr>
              <a:t>We sell</a:t>
            </a:r>
          </a:p>
          <a:p xmlns:a="http://schemas.openxmlformats.org/drawingml/2006/main">
            <a:pPr>
              <a:defRPr sz="11250" b="1">
                <a:solidFill>
                  <a:srgbClr val="171914"/>
                </a:solidFill>
                <a:latin typeface="Arial"/>
                <a:ea typeface="Arial"/>
                <a:cs typeface="Arial"/>
              </a:defRPr>
            </a:pPr>
            <a:r>
              <a:rPr sz="11250" b="1">
                <a:solidFill>
                  <a:srgbClr val="171914"/>
                </a:solidFill>
                <a:latin typeface="Arial"/>
                <a:ea typeface="Arial"/>
                <a:cs typeface="Arial"/>
              </a:rPr>
              <a:t>miles.</a:t>
            </a:r>
          </a:p>
        </p:txBody>
      </p:sp>
      <p:sp>
        <p:nvSpPr>
          <p:cNvPr id="4" name="">
            <a:extLst xmlns:a="http://schemas.openxmlformats.org/drawingml/2006/main">
              <a:ext uri="{FF2B5EF4-FFF2-40B4-BE49-F238E27FC236}">
                <a16:creationId xmlns:a16="http://schemas.microsoft.com/office/drawing/2014/main" id="{74F37A9E-F4BF-4BF6-9E76-D63737E2DBE8}"/>
              </a:ext>
            </a:extLst>
          </p:cNvPr>
          <p:cNvSpPr>
            <a:spLocks xmlns:a="http://schemas.openxmlformats.org/drawingml/2006/main" noGrp="1"/>
          </p:cNvSpPr>
          <p:nvPr/>
        </p:nvSpPr>
        <p:spPr>
          <a:xfrm xmlns:a="http://schemas.openxmlformats.org/drawingml/2006/main">
            <a:off x="714375" y="5562600"/>
            <a:ext cx="1081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71914"/>
                </a:solidFill>
                <a:latin typeface="Arial"/>
                <a:ea typeface="Arial"/>
                <a:cs typeface="Arial"/>
              </a:defRPr>
            </a:pPr>
            <a:r>
              <a:rPr sz="2850" b="1">
                <a:solidFill>
                  <a:srgbClr val="171914"/>
                </a:solidFill>
                <a:latin typeface="Arial"/>
                <a:ea typeface="Arial"/>
                <a:cs typeface="Arial"/>
              </a:rPr>
              <a:t>Hosting revenue: $0.  Miles revenue: all of it.</a:t>
            </a:r>
          </a:p>
        </p:txBody>
      </p:sp>
    </p:spTree>
    <p:extLst>
      <p:ext uri="{BB962C8B-B14F-4D97-AF65-F5344CB8AC3E}">
        <p14:creationId xmlns:p14="http://schemas.microsoft.com/office/powerpoint/2010/main" val="955890564"/>
      </p:ext>
    </p:extLst>
  </p:cSld>
</p:sld>
</file>

<file path=ppt/slides/slide5.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8A24038-3107-474A-9127-DE2CB4D0080D}"/>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6B63"/>
                </a:solidFill>
                <a:latin typeface="Arial"/>
                <a:ea typeface="Arial"/>
                <a:cs typeface="Arial"/>
              </a:defRPr>
            </a:pPr>
            <a:r>
              <a:rPr sz="1200" b="0">
                <a:solidFill>
                  <a:srgbClr val="686B63"/>
                </a:solidFill>
                <a:latin typeface="Arial"/>
                <a:ea typeface="Arial"/>
                <a:cs typeface="Arial"/>
              </a:rPr>
              <a:t>05</a:t>
            </a:r>
          </a:p>
        </p:txBody>
      </p:sp>
      <p:sp>
        <p:nvSpPr>
          <p:cNvPr id="2" name="">
            <a:extLst xmlns:a="http://schemas.openxmlformats.org/drawingml/2006/main">
              <a:ext uri="{FF2B5EF4-FFF2-40B4-BE49-F238E27FC236}">
                <a16:creationId xmlns:a16="http://schemas.microsoft.com/office/drawing/2014/main" id="{B42F4532-DDF4-48C0-B71C-C25E091A7FDB}"/>
              </a:ext>
            </a:extLst>
          </p:cNvPr>
          <p:cNvSpPr>
            <a:spLocks xmlns:a="http://schemas.openxmlformats.org/drawingml/2006/main" noGrp="1"/>
          </p:cNvSpPr>
          <p:nvPr/>
        </p:nvSpPr>
        <p:spPr>
          <a:xfrm xmlns:a="http://schemas.openxmlformats.org/drawingml/2006/main">
            <a:off x="647700" y="47625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F6400"/>
                </a:solidFill>
                <a:latin typeface="Arial"/>
                <a:ea typeface="Arial"/>
                <a:cs typeface="Arial"/>
              </a:defRPr>
            </a:pPr>
            <a:r>
              <a:rPr sz="1725" b="1">
                <a:solidFill>
                  <a:srgbClr val="FF6400"/>
                </a:solidFill>
                <a:latin typeface="Arial"/>
                <a:ea typeface="Arial"/>
                <a:cs typeface="Arial"/>
              </a:rPr>
              <a:t>A REAL BUSINESS UNDER THE COSTUME</a:t>
            </a:r>
          </a:p>
        </p:txBody>
      </p:sp>
      <p:sp>
        <p:nvSpPr>
          <p:cNvPr id="3" name="">
            <a:extLst xmlns:a="http://schemas.openxmlformats.org/drawingml/2006/main">
              <a:ext uri="{FF2B5EF4-FFF2-40B4-BE49-F238E27FC236}">
                <a16:creationId xmlns:a16="http://schemas.microsoft.com/office/drawing/2014/main" id="{6B92F424-D51F-498E-B50C-B83B6ED91737}"/>
              </a:ext>
            </a:extLst>
          </p:cNvPr>
          <p:cNvSpPr>
            <a:spLocks xmlns:a="http://schemas.openxmlformats.org/drawingml/2006/main" noGrp="1"/>
          </p:cNvSpPr>
          <p:nvPr/>
        </p:nvSpPr>
        <p:spPr>
          <a:xfrm xmlns:a="http://schemas.openxmlformats.org/drawingml/2006/main">
            <a:off x="638175" y="1076325"/>
            <a:ext cx="1085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171914"/>
                </a:solidFill>
                <a:latin typeface="Arial"/>
                <a:ea typeface="Arial"/>
                <a:cs typeface="Arial"/>
              </a:defRPr>
            </a:pPr>
            <a:r>
              <a:rPr sz="4800" b="1">
                <a:solidFill>
                  <a:srgbClr val="171914"/>
                </a:solidFill>
                <a:latin typeface="Arial"/>
                <a:ea typeface="Arial"/>
                <a:cs typeface="Arial"/>
              </a:rPr>
              <a:t>Fuel in. Flights out.</a:t>
            </a:r>
          </a:p>
        </p:txBody>
      </p:sp>
      <p:sp>
        <p:nvSpPr>
          <p:cNvPr id="4" name="">
            <a:extLst xmlns:a="http://schemas.openxmlformats.org/drawingml/2006/main">
              <a:ext uri="{FF2B5EF4-FFF2-40B4-BE49-F238E27FC236}">
                <a16:creationId xmlns:a16="http://schemas.microsoft.com/office/drawing/2014/main" id="{61E9BF35-3137-4190-B67C-617AEDDDF9B1}"/>
              </a:ext>
            </a:extLst>
          </p:cNvPr>
          <p:cNvSpPr>
            <a:spLocks xmlns:a="http://schemas.openxmlformats.org/drawingml/2006/main" noGrp="1"/>
          </p:cNvSpPr>
          <p:nvPr/>
        </p:nvSpPr>
        <p:spPr>
          <a:xfrm xmlns:a="http://schemas.openxmlformats.org/drawingml/2006/main">
            <a:off x="723900" y="2438400"/>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6400"/>
                </a:solidFill>
                <a:latin typeface="Arial"/>
                <a:ea typeface="Arial"/>
                <a:cs typeface="Arial"/>
              </a:defRPr>
            </a:pPr>
            <a:r>
              <a:rPr sz="2250" b="1">
                <a:solidFill>
                  <a:srgbClr val="FF6400"/>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F6932AF5-3ED7-4AE4-9139-361E17C80860}"/>
              </a:ext>
            </a:extLst>
          </p:cNvPr>
          <p:cNvSpPr>
            <a:spLocks xmlns:a="http://schemas.openxmlformats.org/drawingml/2006/main" noGrp="1"/>
          </p:cNvSpPr>
          <p:nvPr/>
        </p:nvSpPr>
        <p:spPr>
          <a:xfrm xmlns:a="http://schemas.openxmlformats.org/drawingml/2006/main">
            <a:off x="1600200" y="2438400"/>
            <a:ext cx="904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1914"/>
                </a:solidFill>
                <a:latin typeface="Arial"/>
                <a:ea typeface="Arial"/>
                <a:cs typeface="Arial"/>
              </a:defRPr>
            </a:pPr>
            <a:r>
              <a:rPr sz="2400" b="1">
                <a:solidFill>
                  <a:srgbClr val="171914"/>
                </a:solidFill>
                <a:latin typeface="Arial"/>
                <a:ea typeface="Arial"/>
                <a:cs typeface="Arial"/>
              </a:rPr>
              <a:t>Truck stops buy miles</a:t>
            </a:r>
          </a:p>
        </p:txBody>
      </p:sp>
      <p:sp>
        <p:nvSpPr>
          <p:cNvPr id="6" name="">
            <a:extLst xmlns:a="http://schemas.openxmlformats.org/drawingml/2006/main">
              <a:ext uri="{FF2B5EF4-FFF2-40B4-BE49-F238E27FC236}">
                <a16:creationId xmlns:a16="http://schemas.microsoft.com/office/drawing/2014/main" id="{A05C8447-ACF6-4AA8-8719-7725A2D6FB96}"/>
              </a:ext>
            </a:extLst>
          </p:cNvPr>
          <p:cNvSpPr>
            <a:spLocks xmlns:a="http://schemas.openxmlformats.org/drawingml/2006/main" noGrp="1"/>
          </p:cNvSpPr>
          <p:nvPr/>
        </p:nvSpPr>
        <p:spPr>
          <a:xfrm xmlns:a="http://schemas.openxmlformats.org/drawingml/2006/main">
            <a:off x="1600200" y="2847975"/>
            <a:ext cx="9048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86B63"/>
                </a:solidFill>
                <a:latin typeface="Arial"/>
                <a:ea typeface="Arial"/>
                <a:cs typeface="Arial"/>
              </a:defRPr>
            </a:pPr>
            <a:r>
              <a:rPr sz="1875" b="0">
                <a:solidFill>
                  <a:srgbClr val="686B63"/>
                </a:solidFill>
                <a:latin typeface="Arial"/>
                <a:ea typeface="Arial"/>
                <a:cs typeface="Arial"/>
              </a:rPr>
              <a:t>to bring drivers back to their locations.</a:t>
            </a:r>
          </a:p>
        </p:txBody>
      </p:sp>
      <p:sp>
        <p:nvSpPr>
          <p:cNvPr id="7" name="">
            <a:extLst xmlns:a="http://schemas.openxmlformats.org/drawingml/2006/main">
              <a:ext uri="{FF2B5EF4-FFF2-40B4-BE49-F238E27FC236}">
                <a16:creationId xmlns:a16="http://schemas.microsoft.com/office/drawing/2014/main" id="{B7B3811A-CE53-499B-A3A4-80DACB6EED21}"/>
              </a:ext>
            </a:extLst>
          </p:cNvPr>
          <p:cNvSpPr>
            <a:spLocks xmlns:a="http://schemas.openxmlformats.org/drawingml/2006/main" noGrp="1"/>
          </p:cNvSpPr>
          <p:nvPr/>
        </p:nvSpPr>
        <p:spPr>
          <a:xfrm xmlns:a="http://schemas.openxmlformats.org/drawingml/2006/main">
            <a:off x="723900" y="3314700"/>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6400"/>
                </a:solidFill>
                <a:latin typeface="Arial"/>
                <a:ea typeface="Arial"/>
                <a:cs typeface="Arial"/>
              </a:defRPr>
            </a:pPr>
            <a:r>
              <a:rPr sz="2250" b="1">
                <a:solidFill>
                  <a:srgbClr val="FF6400"/>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C8764AB0-0CB1-4D72-A838-366C0788BD9B}"/>
              </a:ext>
            </a:extLst>
          </p:cNvPr>
          <p:cNvSpPr>
            <a:spLocks xmlns:a="http://schemas.openxmlformats.org/drawingml/2006/main" noGrp="1"/>
          </p:cNvSpPr>
          <p:nvPr/>
        </p:nvSpPr>
        <p:spPr>
          <a:xfrm xmlns:a="http://schemas.openxmlformats.org/drawingml/2006/main">
            <a:off x="1600200" y="3314700"/>
            <a:ext cx="904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1914"/>
                </a:solidFill>
                <a:latin typeface="Arial"/>
                <a:ea typeface="Arial"/>
                <a:cs typeface="Arial"/>
              </a:defRPr>
            </a:pPr>
            <a:r>
              <a:rPr sz="2400" b="1">
                <a:solidFill>
                  <a:srgbClr val="171914"/>
                </a:solidFill>
                <a:latin typeface="Arial"/>
                <a:ea typeface="Arial"/>
                <a:cs typeface="Arial"/>
              </a:rPr>
              <a:t>Customers earn miles</a:t>
            </a:r>
          </a:p>
        </p:txBody>
      </p:sp>
      <p:sp>
        <p:nvSpPr>
          <p:cNvPr id="9" name="">
            <a:extLst xmlns:a="http://schemas.openxmlformats.org/drawingml/2006/main">
              <a:ext uri="{FF2B5EF4-FFF2-40B4-BE49-F238E27FC236}">
                <a16:creationId xmlns:a16="http://schemas.microsoft.com/office/drawing/2014/main" id="{2E7D95B9-A191-4729-99E8-F81172503EB5}"/>
              </a:ext>
            </a:extLst>
          </p:cNvPr>
          <p:cNvSpPr>
            <a:spLocks xmlns:a="http://schemas.openxmlformats.org/drawingml/2006/main" noGrp="1"/>
          </p:cNvSpPr>
          <p:nvPr/>
        </p:nvSpPr>
        <p:spPr>
          <a:xfrm xmlns:a="http://schemas.openxmlformats.org/drawingml/2006/main">
            <a:off x="1600200" y="3724275"/>
            <a:ext cx="9048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86B63"/>
                </a:solidFill>
                <a:latin typeface="Arial"/>
                <a:ea typeface="Arial"/>
                <a:cs typeface="Arial"/>
              </a:defRPr>
            </a:pPr>
            <a:r>
              <a:rPr sz="1875" b="0">
                <a:solidFill>
                  <a:srgbClr val="686B63"/>
                </a:solidFill>
                <a:latin typeface="Arial"/>
                <a:ea typeface="Arial"/>
                <a:cs typeface="Arial"/>
              </a:rPr>
              <a:t>when they buy fuel and food.</a:t>
            </a:r>
          </a:p>
        </p:txBody>
      </p:sp>
      <p:sp>
        <p:nvSpPr>
          <p:cNvPr id="10" name="">
            <a:extLst xmlns:a="http://schemas.openxmlformats.org/drawingml/2006/main">
              <a:ext uri="{FF2B5EF4-FFF2-40B4-BE49-F238E27FC236}">
                <a16:creationId xmlns:a16="http://schemas.microsoft.com/office/drawing/2014/main" id="{56D66956-2C17-46EA-A805-6FE9B11466E3}"/>
              </a:ext>
            </a:extLst>
          </p:cNvPr>
          <p:cNvSpPr>
            <a:spLocks xmlns:a="http://schemas.openxmlformats.org/drawingml/2006/main" noGrp="1"/>
          </p:cNvSpPr>
          <p:nvPr/>
        </p:nvSpPr>
        <p:spPr>
          <a:xfrm xmlns:a="http://schemas.openxmlformats.org/drawingml/2006/main">
            <a:off x="723900" y="4191000"/>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6400"/>
                </a:solidFill>
                <a:latin typeface="Arial"/>
                <a:ea typeface="Arial"/>
                <a:cs typeface="Arial"/>
              </a:defRPr>
            </a:pPr>
            <a:r>
              <a:rPr sz="2250" b="1">
                <a:solidFill>
                  <a:srgbClr val="FF6400"/>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F4883050-81B6-4404-B4BA-B919DD0DEC79}"/>
              </a:ext>
            </a:extLst>
          </p:cNvPr>
          <p:cNvSpPr>
            <a:spLocks xmlns:a="http://schemas.openxmlformats.org/drawingml/2006/main" noGrp="1"/>
          </p:cNvSpPr>
          <p:nvPr/>
        </p:nvSpPr>
        <p:spPr>
          <a:xfrm xmlns:a="http://schemas.openxmlformats.org/drawingml/2006/main">
            <a:off x="1600200" y="4191000"/>
            <a:ext cx="904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1914"/>
                </a:solidFill>
                <a:latin typeface="Arial"/>
                <a:ea typeface="Arial"/>
                <a:cs typeface="Arial"/>
              </a:defRPr>
            </a:pPr>
            <a:r>
              <a:rPr sz="2400" b="1">
                <a:solidFill>
                  <a:srgbClr val="171914"/>
                </a:solidFill>
                <a:latin typeface="Arial"/>
                <a:ea typeface="Arial"/>
                <a:cs typeface="Arial"/>
              </a:rPr>
              <a:t>We pay for real flights</a:t>
            </a:r>
          </a:p>
        </p:txBody>
      </p:sp>
      <p:sp>
        <p:nvSpPr>
          <p:cNvPr id="12" name="">
            <a:extLst xmlns:a="http://schemas.openxmlformats.org/drawingml/2006/main">
              <a:ext uri="{FF2B5EF4-FFF2-40B4-BE49-F238E27FC236}">
                <a16:creationId xmlns:a16="http://schemas.microsoft.com/office/drawing/2014/main" id="{72695369-5AB8-42B9-BE2A-A8E9BF991BBF}"/>
              </a:ext>
            </a:extLst>
          </p:cNvPr>
          <p:cNvSpPr>
            <a:spLocks xmlns:a="http://schemas.openxmlformats.org/drawingml/2006/main" noGrp="1"/>
          </p:cNvSpPr>
          <p:nvPr/>
        </p:nvSpPr>
        <p:spPr>
          <a:xfrm xmlns:a="http://schemas.openxmlformats.org/drawingml/2006/main">
            <a:off x="1600200" y="4600575"/>
            <a:ext cx="9048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86B63"/>
                </a:solidFill>
                <a:latin typeface="Arial"/>
                <a:ea typeface="Arial"/>
                <a:cs typeface="Arial"/>
              </a:defRPr>
            </a:pPr>
            <a:r>
              <a:rPr sz="1875" b="0">
                <a:solidFill>
                  <a:srgbClr val="686B63"/>
                </a:solidFill>
                <a:latin typeface="Arial"/>
                <a:ea typeface="Arial"/>
                <a:cs typeface="Arial"/>
              </a:rPr>
              <a:t>on existing airlines when miles are redeemed.</a:t>
            </a:r>
          </a:p>
        </p:txBody>
      </p:sp>
      <p:sp>
        <p:nvSpPr>
          <p:cNvPr id="13" name="">
            <a:extLst xmlns:a="http://schemas.openxmlformats.org/drawingml/2006/main">
              <a:ext uri="{FF2B5EF4-FFF2-40B4-BE49-F238E27FC236}">
                <a16:creationId xmlns:a16="http://schemas.microsoft.com/office/drawing/2014/main" id="{1F819E2F-1F9A-4EAA-94BF-BC4E9032A81A}"/>
              </a:ext>
            </a:extLst>
          </p:cNvPr>
          <p:cNvSpPr>
            <a:spLocks xmlns:a="http://schemas.openxmlformats.org/drawingml/2006/main" noGrp="1"/>
          </p:cNvSpPr>
          <p:nvPr/>
        </p:nvSpPr>
        <p:spPr>
          <a:xfrm xmlns:a="http://schemas.openxmlformats.org/drawingml/2006/main">
            <a:off x="723900" y="5067300"/>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6400"/>
                </a:solidFill>
                <a:latin typeface="Arial"/>
                <a:ea typeface="Arial"/>
                <a:cs typeface="Arial"/>
              </a:defRPr>
            </a:pPr>
            <a:r>
              <a:rPr sz="2250" b="1">
                <a:solidFill>
                  <a:srgbClr val="FF6400"/>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44FD8F4E-3F5D-43D0-995B-C3315E08AF81}"/>
              </a:ext>
            </a:extLst>
          </p:cNvPr>
          <p:cNvSpPr>
            <a:spLocks xmlns:a="http://schemas.openxmlformats.org/drawingml/2006/main" noGrp="1"/>
          </p:cNvSpPr>
          <p:nvPr/>
        </p:nvSpPr>
        <p:spPr>
          <a:xfrm xmlns:a="http://schemas.openxmlformats.org/drawingml/2006/main">
            <a:off x="1600200" y="5067300"/>
            <a:ext cx="904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1914"/>
                </a:solidFill>
                <a:latin typeface="Arial"/>
                <a:ea typeface="Arial"/>
                <a:cs typeface="Arial"/>
              </a:defRPr>
            </a:pPr>
            <a:r>
              <a:rPr sz="2400" b="1">
                <a:solidFill>
                  <a:srgbClr val="171914"/>
                </a:solidFill>
                <a:latin typeface="Arial"/>
                <a:ea typeface="Arial"/>
                <a:cs typeface="Arial"/>
              </a:rPr>
              <a:t>We keep the difference</a:t>
            </a:r>
          </a:p>
        </p:txBody>
      </p:sp>
      <p:sp>
        <p:nvSpPr>
          <p:cNvPr id="15" name="">
            <a:extLst xmlns:a="http://schemas.openxmlformats.org/drawingml/2006/main">
              <a:ext uri="{FF2B5EF4-FFF2-40B4-BE49-F238E27FC236}">
                <a16:creationId xmlns:a16="http://schemas.microsoft.com/office/drawing/2014/main" id="{94086AD5-6960-420C-81EF-4FBCD64EB349}"/>
              </a:ext>
            </a:extLst>
          </p:cNvPr>
          <p:cNvSpPr>
            <a:spLocks xmlns:a="http://schemas.openxmlformats.org/drawingml/2006/main" noGrp="1"/>
          </p:cNvSpPr>
          <p:nvPr/>
        </p:nvSpPr>
        <p:spPr>
          <a:xfrm xmlns:a="http://schemas.openxmlformats.org/drawingml/2006/main">
            <a:off x="1600200" y="5476875"/>
            <a:ext cx="9048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86B63"/>
                </a:solidFill>
                <a:latin typeface="Arial"/>
                <a:ea typeface="Arial"/>
                <a:cs typeface="Arial"/>
              </a:defRPr>
            </a:pPr>
            <a:r>
              <a:rPr sz="1875" b="0">
                <a:solidFill>
                  <a:srgbClr val="686B63"/>
                </a:solidFill>
                <a:latin typeface="Arial"/>
                <a:ea typeface="Arial"/>
                <a:cs typeface="Arial"/>
              </a:rPr>
              <a:t>after reward and operating costs.</a:t>
            </a:r>
          </a:p>
        </p:txBody>
      </p:sp>
    </p:spTree>
    <p:extLst>
      <p:ext uri="{BB962C8B-B14F-4D97-AF65-F5344CB8AC3E}">
        <p14:creationId xmlns:p14="http://schemas.microsoft.com/office/powerpoint/2010/main" val="23232377"/>
      </p:ext>
    </p:extLst>
  </p:cSld>
</p:sld>
</file>

<file path=ppt/slides/slide6.xml><?xml version="1.0" encoding="utf-8"?>
<p:sld xmlns:p="http://schemas.openxmlformats.org/presentationml/2006/main">
  <p:cSld>
    <p:bg>
      <p:bgPr>
        <a:solidFill xmlns:a="http://schemas.openxmlformats.org/drawingml/2006/main">
          <a:srgbClr val="17191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08282C6-E0B9-4598-9F6E-26A5E4A5BB17}"/>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999999"/>
                </a:solidFill>
                <a:latin typeface="Arial"/>
                <a:ea typeface="Arial"/>
                <a:cs typeface="Arial"/>
              </a:defRPr>
            </a:pPr>
            <a:r>
              <a:rPr sz="1200" b="0">
                <a:solidFill>
                  <a:srgbClr val="999999"/>
                </a:solidFill>
                <a:latin typeface="Arial"/>
                <a:ea typeface="Arial"/>
                <a:cs typeface="Arial"/>
              </a:rPr>
              <a:t>06</a:t>
            </a:r>
          </a:p>
        </p:txBody>
      </p:sp>
      <p:sp>
        <p:nvSpPr>
          <p:cNvPr id="2" name="">
            <a:extLst xmlns:a="http://schemas.openxmlformats.org/drawingml/2006/main">
              <a:ext uri="{FF2B5EF4-FFF2-40B4-BE49-F238E27FC236}">
                <a16:creationId xmlns:a16="http://schemas.microsoft.com/office/drawing/2014/main" id="{CA3F2757-7165-4FED-B83E-DBC03668C983}"/>
              </a:ext>
            </a:extLst>
          </p:cNvPr>
          <p:cNvSpPr>
            <a:spLocks xmlns:a="http://schemas.openxmlformats.org/drawingml/2006/main" noGrp="1"/>
          </p:cNvSpPr>
          <p:nvPr/>
        </p:nvSpPr>
        <p:spPr>
          <a:xfrm xmlns:a="http://schemas.openxmlformats.org/drawingml/2006/main">
            <a:off x="666750" y="52387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4F1EA"/>
                </a:solidFill>
                <a:latin typeface="Arial"/>
                <a:ea typeface="Arial"/>
                <a:cs typeface="Arial"/>
              </a:defRPr>
            </a:pPr>
            <a:r>
              <a:rPr sz="2100" b="1">
                <a:solidFill>
                  <a:srgbClr val="F4F1EA"/>
                </a:solidFill>
                <a:latin typeface="Arial"/>
                <a:ea typeface="Arial"/>
                <a:cs typeface="Arial"/>
              </a:rPr>
              <a:t>OUR RESPONSE TO AWS + REGULATORY RISK</a:t>
            </a:r>
          </a:p>
        </p:txBody>
      </p:sp>
      <p:sp>
        <p:nvSpPr>
          <p:cNvPr id="3" name="">
            <a:extLst xmlns:a="http://schemas.openxmlformats.org/drawingml/2006/main">
              <a:ext uri="{FF2B5EF4-FFF2-40B4-BE49-F238E27FC236}">
                <a16:creationId xmlns:a16="http://schemas.microsoft.com/office/drawing/2014/main" id="{55ABC466-4F00-41D5-9EE4-3D0C40E2CE45}"/>
              </a:ext>
            </a:extLst>
          </p:cNvPr>
          <p:cNvSpPr>
            <a:spLocks xmlns:a="http://schemas.openxmlformats.org/drawingml/2006/main" noGrp="1"/>
          </p:cNvSpPr>
          <p:nvPr/>
        </p:nvSpPr>
        <p:spPr>
          <a:xfrm xmlns:a="http://schemas.openxmlformats.org/drawingml/2006/main">
            <a:off x="609600" y="1743075"/>
            <a:ext cx="55245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0" b="1">
                <a:solidFill>
                  <a:srgbClr val="FF6400"/>
                </a:solidFill>
                <a:latin typeface="Arial"/>
                <a:ea typeface="Arial"/>
                <a:cs typeface="Arial"/>
              </a:defRPr>
            </a:pPr>
            <a:r>
              <a:rPr sz="9750" b="1">
                <a:solidFill>
                  <a:srgbClr val="FF6400"/>
                </a:solidFill>
                <a:latin typeface="Arial"/>
                <a:ea typeface="Arial"/>
                <a:cs typeface="Arial"/>
              </a:rPr>
              <a:t>$600M</a:t>
            </a:r>
          </a:p>
        </p:txBody>
      </p:sp>
      <p:sp>
        <p:nvSpPr>
          <p:cNvPr id="4" name="">
            <a:extLst xmlns:a="http://schemas.openxmlformats.org/drawingml/2006/main">
              <a:ext uri="{FF2B5EF4-FFF2-40B4-BE49-F238E27FC236}">
                <a16:creationId xmlns:a16="http://schemas.microsoft.com/office/drawing/2014/main" id="{55B89EDF-4A89-426A-A833-FE6A6069365A}"/>
              </a:ext>
            </a:extLst>
          </p:cNvPr>
          <p:cNvSpPr>
            <a:spLocks xmlns:a="http://schemas.openxmlformats.org/drawingml/2006/main" noGrp="1"/>
          </p:cNvSpPr>
          <p:nvPr/>
        </p:nvSpPr>
        <p:spPr>
          <a:xfrm xmlns:a="http://schemas.openxmlformats.org/drawingml/2006/main">
            <a:off x="723900" y="3381375"/>
            <a:ext cx="57626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75" b="1">
                <a:solidFill>
                  <a:srgbClr val="F4F1EA"/>
                </a:solidFill>
                <a:latin typeface="Arial"/>
                <a:ea typeface="Arial"/>
                <a:cs typeface="Arial"/>
              </a:defRPr>
            </a:pPr>
            <a:r>
              <a:rPr sz="3975" b="1">
                <a:solidFill>
                  <a:srgbClr val="F4F1EA"/>
                </a:solidFill>
                <a:latin typeface="Arial"/>
                <a:ea typeface="Arial"/>
                <a:cs typeface="Arial"/>
              </a:rPr>
              <a:t>hosting bill.</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d67795d8aae04f4b"/>
          <a:stretch xmlns:a="http://schemas.openxmlformats.org/drawingml/2006/main"/>
        </p:blipFill>
        <p:spPr>
          <a:xfrm xmlns:a="http://schemas.openxmlformats.org/drawingml/2006/main">
            <a:off x="6238875" y="1606854"/>
            <a:ext cx="5429250" cy="3644291"/>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DC67270-4024-48E8-84A7-A37BC97C1BB3}"/>
              </a:ext>
            </a:extLst>
          </p:cNvPr>
          <p:cNvSpPr>
            <a:spLocks xmlns:a="http://schemas.openxmlformats.org/drawingml/2006/main" noGrp="1"/>
          </p:cNvSpPr>
          <p:nvPr/>
        </p:nvSpPr>
        <p:spPr>
          <a:xfrm xmlns:a="http://schemas.openxmlformats.org/drawingml/2006/main">
            <a:off x="733425" y="556260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4F1EA"/>
                </a:solidFill>
                <a:latin typeface="Arial"/>
                <a:ea typeface="Arial"/>
                <a:cs typeface="Arial"/>
              </a:defRPr>
            </a:pPr>
            <a:r>
              <a:rPr sz="2550" b="1">
                <a:solidFill>
                  <a:srgbClr val="F4F1EA"/>
                </a:solidFill>
                <a:latin typeface="Arial"/>
                <a:ea typeface="Arial"/>
                <a:cs typeface="Arial"/>
              </a:rPr>
              <a:t>AWS asked us to pick a region. We picked orbit.</a:t>
            </a:r>
          </a:p>
        </p:txBody>
      </p:sp>
    </p:spTree>
    <p:extLst>
      <p:ext uri="{BB962C8B-B14F-4D97-AF65-F5344CB8AC3E}">
        <p14:creationId xmlns:p14="http://schemas.microsoft.com/office/powerpoint/2010/main" val="1980953758"/>
      </p:ext>
    </p:extLst>
  </p:cSld>
</p:sld>
</file>

<file path=ppt/slides/slide7.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C69DF62-7221-4FA1-827F-277D9730E7A2}"/>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6B63"/>
                </a:solidFill>
                <a:latin typeface="Arial"/>
                <a:ea typeface="Arial"/>
                <a:cs typeface="Arial"/>
              </a:defRPr>
            </a:pPr>
            <a:r>
              <a:rPr sz="1200" b="0">
                <a:solidFill>
                  <a:srgbClr val="686B63"/>
                </a:solidFill>
                <a:latin typeface="Arial"/>
                <a:ea typeface="Arial"/>
                <a:cs typeface="Arial"/>
              </a:rPr>
              <a:t>07</a:t>
            </a:r>
          </a:p>
        </p:txBody>
      </p:sp>
      <p:sp>
        <p:nvSpPr>
          <p:cNvPr id="2" name="">
            <a:extLst xmlns:a="http://schemas.openxmlformats.org/drawingml/2006/main">
              <a:ext uri="{FF2B5EF4-FFF2-40B4-BE49-F238E27FC236}">
                <a16:creationId xmlns:a16="http://schemas.microsoft.com/office/drawing/2014/main" id="{FEC6A20D-5BBB-4645-9E44-F4FB0BE2DB55}"/>
              </a:ext>
            </a:extLst>
          </p:cNvPr>
          <p:cNvSpPr>
            <a:spLocks xmlns:a="http://schemas.openxmlformats.org/drawingml/2006/main" noGrp="1"/>
          </p:cNvSpPr>
          <p:nvPr/>
        </p:nvSpPr>
        <p:spPr>
          <a:xfrm xmlns:a="http://schemas.openxmlformats.org/drawingml/2006/main">
            <a:off x="666750" y="45720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F6400"/>
                </a:solidFill>
                <a:latin typeface="Arial"/>
                <a:ea typeface="Arial"/>
                <a:cs typeface="Arial"/>
              </a:defRPr>
            </a:pPr>
            <a:r>
              <a:rPr sz="1725" b="1">
                <a:solidFill>
                  <a:srgbClr val="FF6400"/>
                </a:solidFill>
                <a:latin typeface="Arial"/>
                <a:ea typeface="Arial"/>
                <a:cs typeface="Arial"/>
              </a:rPr>
              <a:t>THE TEAM</a:t>
            </a:r>
          </a:p>
        </p:txBody>
      </p:sp>
      <p:sp>
        <p:nvSpPr>
          <p:cNvPr id="3" name="">
            <a:extLst xmlns:a="http://schemas.openxmlformats.org/drawingml/2006/main">
              <a:ext uri="{FF2B5EF4-FFF2-40B4-BE49-F238E27FC236}">
                <a16:creationId xmlns:a16="http://schemas.microsoft.com/office/drawing/2014/main" id="{06DBD2E7-8519-4EB7-AB1C-3297A4E5BB83}"/>
              </a:ext>
            </a:extLst>
          </p:cNvPr>
          <p:cNvSpPr>
            <a:spLocks xmlns:a="http://schemas.openxmlformats.org/drawingml/2006/main" noGrp="1"/>
          </p:cNvSpPr>
          <p:nvPr/>
        </p:nvSpPr>
        <p:spPr>
          <a:xfrm xmlns:a="http://schemas.openxmlformats.org/drawingml/2006/main">
            <a:off x="647700" y="1038225"/>
            <a:ext cx="5238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75" b="1">
                <a:solidFill>
                  <a:srgbClr val="171914"/>
                </a:solidFill>
                <a:latin typeface="Arial"/>
                <a:ea typeface="Arial"/>
                <a:cs typeface="Arial"/>
              </a:defRPr>
            </a:pPr>
            <a:r>
              <a:rPr sz="4275" b="1">
                <a:solidFill>
                  <a:srgbClr val="171914"/>
                </a:solidFill>
                <a:latin typeface="Arial"/>
                <a:ea typeface="Arial"/>
                <a:cs typeface="Arial"/>
              </a:rPr>
              <a:t>Two Forbes 30u30.</a:t>
            </a:r>
          </a:p>
        </p:txBody>
      </p:sp>
      <p:sp>
        <p:nvSpPr>
          <p:cNvPr id="4" name="">
            <a:extLst xmlns:a="http://schemas.openxmlformats.org/drawingml/2006/main">
              <a:ext uri="{FF2B5EF4-FFF2-40B4-BE49-F238E27FC236}">
                <a16:creationId xmlns:a16="http://schemas.microsoft.com/office/drawing/2014/main" id="{7A15D3CE-537A-4C8B-BB94-34B23739F39B}"/>
              </a:ext>
            </a:extLst>
          </p:cNvPr>
          <p:cNvSpPr>
            <a:spLocks xmlns:a="http://schemas.openxmlformats.org/drawingml/2006/main" noGrp="1"/>
          </p:cNvSpPr>
          <p:nvPr/>
        </p:nvSpPr>
        <p:spPr>
          <a:xfrm xmlns:a="http://schemas.openxmlformats.org/drawingml/2006/main">
            <a:off x="6038850" y="133350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86B63"/>
                </a:solidFill>
                <a:latin typeface="Arial"/>
                <a:ea typeface="Arial"/>
                <a:cs typeface="Arial"/>
              </a:defRPr>
            </a:pPr>
            <a:r>
              <a:rPr sz="1725" b="0">
                <a:solidFill>
                  <a:srgbClr val="686B63"/>
                </a:solidFill>
                <a:latin typeface="Arial"/>
                <a:ea typeface="Arial"/>
                <a:cs typeface="Arial"/>
              </a:rPr>
              <a:t>(pre-indictment)</a:t>
            </a:r>
          </a:p>
        </p:txBody>
      </p:sp>
      <p:sp>
        <p:nvSpPr>
          <p:cNvPr id="5" name="">
            <a:extLst xmlns:a="http://schemas.openxmlformats.org/drawingml/2006/main">
              <a:ext uri="{FF2B5EF4-FFF2-40B4-BE49-F238E27FC236}">
                <a16:creationId xmlns:a16="http://schemas.microsoft.com/office/drawing/2014/main" id="{E27E335E-9934-486E-8CE1-0B66AA34189C}"/>
              </a:ext>
            </a:extLst>
          </p:cNvPr>
          <p:cNvSpPr>
            <a:spLocks xmlns:a="http://schemas.openxmlformats.org/drawingml/2006/main" noGrp="1"/>
          </p:cNvSpPr>
          <p:nvPr/>
        </p:nvSpPr>
        <p:spPr>
          <a:xfrm xmlns:a="http://schemas.openxmlformats.org/drawingml/2006/main">
            <a:off x="647700" y="1695450"/>
            <a:ext cx="10858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75" b="1">
                <a:solidFill>
                  <a:srgbClr val="171914"/>
                </a:solidFill>
                <a:latin typeface="Arial"/>
                <a:ea typeface="Arial"/>
                <a:cs typeface="Arial"/>
              </a:defRPr>
            </a:pPr>
            <a:r>
              <a:rPr sz="4275" b="1">
                <a:solidFill>
                  <a:srgbClr val="171914"/>
                </a:solidFill>
                <a:latin typeface="Arial"/>
                <a:ea typeface="Arial"/>
                <a:cs typeface="Arial"/>
              </a:rPr>
              <a:t>One emergency contact.</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87904dda43124516"/>
          <a:srcRect xmlns:a="http://schemas.openxmlformats.org/drawingml/2006/main" l="0" t="0" r="0" b="0"/>
          <a:stretch xmlns:a="http://schemas.openxmlformats.org/drawingml/2006/main">
            <a:fillRect l="0" t="0" r="0" b="0"/>
          </a:stretch>
        </p:blipFill>
        <p:spPr>
          <a:xfrm xmlns:a="http://schemas.openxmlformats.org/drawingml/2006/main">
            <a:off x="723900" y="2543175"/>
            <a:ext cx="2571750" cy="25717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830EB661-C199-4508-B4B8-29961E057174}"/>
              </a:ext>
            </a:extLst>
          </p:cNvPr>
          <p:cNvSpPr>
            <a:spLocks xmlns:a="http://schemas.openxmlformats.org/drawingml/2006/main" noGrp="1"/>
          </p:cNvSpPr>
          <p:nvPr/>
        </p:nvSpPr>
        <p:spPr>
          <a:xfrm xmlns:a="http://schemas.openxmlformats.org/drawingml/2006/main">
            <a:off x="723900" y="5191125"/>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1914"/>
                </a:solidFill>
                <a:latin typeface="Arial"/>
                <a:ea typeface="Arial"/>
                <a:cs typeface="Arial"/>
              </a:defRPr>
            </a:pPr>
            <a:r>
              <a:rPr sz="2100" b="1">
                <a:solidFill>
                  <a:srgbClr val="171914"/>
                </a:solidFill>
                <a:latin typeface="Arial"/>
                <a:ea typeface="Arial"/>
                <a:cs typeface="Arial"/>
              </a:rPr>
              <a:t>NADAV SHOVAL</a:t>
            </a:r>
          </a:p>
        </p:txBody>
      </p:sp>
      <p:sp>
        <p:nvSpPr>
          <p:cNvPr id="8" name="">
            <a:extLst xmlns:a="http://schemas.openxmlformats.org/drawingml/2006/main">
              <a:ext uri="{FF2B5EF4-FFF2-40B4-BE49-F238E27FC236}">
                <a16:creationId xmlns:a16="http://schemas.microsoft.com/office/drawing/2014/main" id="{857CDC38-333D-4B93-8F3F-5577C3C62137}"/>
              </a:ext>
            </a:extLst>
          </p:cNvPr>
          <p:cNvSpPr>
            <a:spLocks xmlns:a="http://schemas.openxmlformats.org/drawingml/2006/main" noGrp="1"/>
          </p:cNvSpPr>
          <p:nvPr/>
        </p:nvSpPr>
        <p:spPr>
          <a:xfrm xmlns:a="http://schemas.openxmlformats.org/drawingml/2006/main">
            <a:off x="723900" y="5600700"/>
            <a:ext cx="333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86B63"/>
                </a:solidFill>
                <a:latin typeface="Arial"/>
                <a:ea typeface="Arial"/>
                <a:cs typeface="Arial"/>
              </a:defRPr>
            </a:pPr>
            <a:r>
              <a:rPr sz="1350" b="0">
                <a:solidFill>
                  <a:srgbClr val="686B63"/>
                </a:solidFill>
                <a:latin typeface="Arial"/>
                <a:ea typeface="Arial"/>
                <a:cs typeface="Arial"/>
              </a:rPr>
              <a:t>he/him</a:t>
            </a:r>
          </a:p>
        </p:txBody>
      </p:sp>
      <p:sp>
        <p:nvSpPr>
          <p:cNvPr id="9" name="">
            <a:extLst xmlns:a="http://schemas.openxmlformats.org/drawingml/2006/main">
              <a:ext uri="{FF2B5EF4-FFF2-40B4-BE49-F238E27FC236}">
                <a16:creationId xmlns:a16="http://schemas.microsoft.com/office/drawing/2014/main" id="{E0535EFF-2965-4016-99F2-595A118AC3CB}"/>
              </a:ext>
            </a:extLst>
          </p:cNvPr>
          <p:cNvSpPr>
            <a:spLocks xmlns:a="http://schemas.openxmlformats.org/drawingml/2006/main" noGrp="1"/>
          </p:cNvSpPr>
          <p:nvPr/>
        </p:nvSpPr>
        <p:spPr>
          <a:xfrm xmlns:a="http://schemas.openxmlformats.org/drawingml/2006/main">
            <a:off x="723900" y="5915025"/>
            <a:ext cx="3524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86B63"/>
                </a:solidFill>
                <a:latin typeface="Arial"/>
                <a:ea typeface="Arial"/>
                <a:cs typeface="Arial"/>
              </a:defRPr>
            </a:pPr>
            <a:r>
              <a:rPr sz="1650" b="0">
                <a:solidFill>
                  <a:srgbClr val="686B63"/>
                </a:solidFill>
                <a:latin typeface="Arial"/>
                <a:ea typeface="Arial"/>
                <a:cs typeface="Arial"/>
              </a:rPr>
              <a:t>Forbes 30 Under 30</a:t>
            </a:r>
          </a:p>
        </p:txBody>
      </p:sp>
      <p:sp>
        <p:nvSpPr>
          <p:cNvPr id="10" name="">
            <a:extLst xmlns:a="http://schemas.openxmlformats.org/drawingml/2006/main">
              <a:ext uri="{FF2B5EF4-FFF2-40B4-BE49-F238E27FC236}">
                <a16:creationId xmlns:a16="http://schemas.microsoft.com/office/drawing/2014/main" id="{3DB9C623-4947-4B78-AA4D-1704262A78ED}"/>
              </a:ext>
            </a:extLst>
          </p:cNvPr>
          <p:cNvSpPr>
            <a:spLocks xmlns:a="http://schemas.openxmlformats.org/drawingml/2006/main" noGrp="1"/>
          </p:cNvSpPr>
          <p:nvPr/>
        </p:nvSpPr>
        <p:spPr>
          <a:xfrm xmlns:a="http://schemas.openxmlformats.org/drawingml/2006/main">
            <a:off x="723900" y="6248400"/>
            <a:ext cx="3381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FF6400"/>
                </a:solidFill>
                <a:latin typeface="Arial"/>
                <a:ea typeface="Arial"/>
                <a:cs typeface="Arial"/>
              </a:defRPr>
            </a:pPr>
            <a:r>
              <a:rPr sz="1575" b="1">
                <a:solidFill>
                  <a:srgbClr val="FF6400"/>
                </a:solidFill>
                <a:latin typeface="Arial"/>
                <a:ea typeface="Arial"/>
                <a:cs typeface="Arial"/>
              </a:rPr>
              <a:t>Head of miles</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72710cb7024f4068"/>
          <a:srcRect xmlns:a="http://schemas.openxmlformats.org/drawingml/2006/main" l="0" t="0" r="0" b="0"/>
          <a:stretch xmlns:a="http://schemas.openxmlformats.org/drawingml/2006/main">
            <a:fillRect l="0" t="0" r="0" b="0"/>
          </a:stretch>
        </p:blipFill>
        <p:spPr>
          <a:xfrm xmlns:a="http://schemas.openxmlformats.org/drawingml/2006/main">
            <a:off x="4438650" y="2543175"/>
            <a:ext cx="2571750" cy="25717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01774B64-9135-4BF2-AC7B-07E7BE1DAAB3}"/>
              </a:ext>
            </a:extLst>
          </p:cNvPr>
          <p:cNvSpPr>
            <a:spLocks xmlns:a="http://schemas.openxmlformats.org/drawingml/2006/main" noGrp="1"/>
          </p:cNvSpPr>
          <p:nvPr/>
        </p:nvSpPr>
        <p:spPr>
          <a:xfrm xmlns:a="http://schemas.openxmlformats.org/drawingml/2006/main">
            <a:off x="4438650" y="5191125"/>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1914"/>
                </a:solidFill>
                <a:latin typeface="Arial"/>
                <a:ea typeface="Arial"/>
                <a:cs typeface="Arial"/>
              </a:defRPr>
            </a:pPr>
            <a:r>
              <a:rPr sz="2100" b="1">
                <a:solidFill>
                  <a:srgbClr val="171914"/>
                </a:solidFill>
                <a:latin typeface="Arial"/>
                <a:ea typeface="Arial"/>
                <a:cs typeface="Arial"/>
              </a:rPr>
              <a:t>PARKER TENNEY</a:t>
            </a:r>
          </a:p>
        </p:txBody>
      </p:sp>
      <p:sp>
        <p:nvSpPr>
          <p:cNvPr id="13" name="">
            <a:extLst xmlns:a="http://schemas.openxmlformats.org/drawingml/2006/main">
              <a:ext uri="{FF2B5EF4-FFF2-40B4-BE49-F238E27FC236}">
                <a16:creationId xmlns:a16="http://schemas.microsoft.com/office/drawing/2014/main" id="{E9C2E424-425E-4C61-985C-37460AD507EC}"/>
              </a:ext>
            </a:extLst>
          </p:cNvPr>
          <p:cNvSpPr>
            <a:spLocks xmlns:a="http://schemas.openxmlformats.org/drawingml/2006/main" noGrp="1"/>
          </p:cNvSpPr>
          <p:nvPr/>
        </p:nvSpPr>
        <p:spPr>
          <a:xfrm xmlns:a="http://schemas.openxmlformats.org/drawingml/2006/main">
            <a:off x="4438650" y="5600700"/>
            <a:ext cx="333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86B63"/>
                </a:solidFill>
                <a:latin typeface="Arial"/>
                <a:ea typeface="Arial"/>
                <a:cs typeface="Arial"/>
              </a:defRPr>
            </a:pPr>
            <a:r>
              <a:rPr sz="1350" b="0">
                <a:solidFill>
                  <a:srgbClr val="686B63"/>
                </a:solidFill>
                <a:latin typeface="Arial"/>
                <a:ea typeface="Arial"/>
                <a:cs typeface="Arial"/>
              </a:rPr>
              <a:t>he/him</a:t>
            </a:r>
          </a:p>
        </p:txBody>
      </p:sp>
      <p:sp>
        <p:nvSpPr>
          <p:cNvPr id="14" name="">
            <a:extLst xmlns:a="http://schemas.openxmlformats.org/drawingml/2006/main">
              <a:ext uri="{FF2B5EF4-FFF2-40B4-BE49-F238E27FC236}">
                <a16:creationId xmlns:a16="http://schemas.microsoft.com/office/drawing/2014/main" id="{79B830BA-EEE6-402D-A279-F29333BB8040}"/>
              </a:ext>
            </a:extLst>
          </p:cNvPr>
          <p:cNvSpPr>
            <a:spLocks xmlns:a="http://schemas.openxmlformats.org/drawingml/2006/main" noGrp="1"/>
          </p:cNvSpPr>
          <p:nvPr/>
        </p:nvSpPr>
        <p:spPr>
          <a:xfrm xmlns:a="http://schemas.openxmlformats.org/drawingml/2006/main">
            <a:off x="4438650" y="5915025"/>
            <a:ext cx="3524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86B63"/>
                </a:solidFill>
                <a:latin typeface="Arial"/>
                <a:ea typeface="Arial"/>
                <a:cs typeface="Arial"/>
              </a:defRPr>
            </a:pPr>
            <a:r>
              <a:rPr sz="1650" b="0">
                <a:solidFill>
                  <a:srgbClr val="686B63"/>
                </a:solidFill>
                <a:latin typeface="Arial"/>
                <a:ea typeface="Arial"/>
                <a:cs typeface="Arial"/>
              </a:rPr>
              <a:t>Forbes 30 Under 30</a:t>
            </a:r>
          </a:p>
        </p:txBody>
      </p:sp>
      <p:sp>
        <p:nvSpPr>
          <p:cNvPr id="15" name="">
            <a:extLst xmlns:a="http://schemas.openxmlformats.org/drawingml/2006/main">
              <a:ext uri="{FF2B5EF4-FFF2-40B4-BE49-F238E27FC236}">
                <a16:creationId xmlns:a16="http://schemas.microsoft.com/office/drawing/2014/main" id="{D5873010-1868-45EA-8704-7971A98FF61D}"/>
              </a:ext>
            </a:extLst>
          </p:cNvPr>
          <p:cNvSpPr>
            <a:spLocks xmlns:a="http://schemas.openxmlformats.org/drawingml/2006/main" noGrp="1"/>
          </p:cNvSpPr>
          <p:nvPr/>
        </p:nvSpPr>
        <p:spPr>
          <a:xfrm xmlns:a="http://schemas.openxmlformats.org/drawingml/2006/main">
            <a:off x="4438650" y="6248400"/>
            <a:ext cx="3381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FF6400"/>
                </a:solidFill>
                <a:latin typeface="Arial"/>
                <a:ea typeface="Arial"/>
                <a:cs typeface="Arial"/>
              </a:defRPr>
            </a:pPr>
            <a:r>
              <a:rPr sz="1575" b="1">
                <a:solidFill>
                  <a:srgbClr val="FF6400"/>
                </a:solidFill>
                <a:latin typeface="Arial"/>
                <a:ea typeface="Arial"/>
                <a:cs typeface="Arial"/>
              </a:rPr>
              <a:t>Head of valuation</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7fbe4f7b68194198"/>
          <a:srcRect xmlns:a="http://schemas.openxmlformats.org/drawingml/2006/main" l="0" t="0" r="0" b="0"/>
          <a:stretch xmlns:a="http://schemas.openxmlformats.org/drawingml/2006/main">
            <a:fillRect l="0" t="0" r="0" b="0"/>
          </a:stretch>
        </p:blipFill>
        <p:spPr>
          <a:xfrm xmlns:a="http://schemas.openxmlformats.org/drawingml/2006/main">
            <a:off x="8153400" y="2543175"/>
            <a:ext cx="2571750" cy="2571750"/>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42812F21-1D57-4ADC-8A93-637C4E0BF24D}"/>
              </a:ext>
            </a:extLst>
          </p:cNvPr>
          <p:cNvSpPr>
            <a:spLocks xmlns:a="http://schemas.openxmlformats.org/drawingml/2006/main" noGrp="1"/>
          </p:cNvSpPr>
          <p:nvPr/>
        </p:nvSpPr>
        <p:spPr>
          <a:xfrm xmlns:a="http://schemas.openxmlformats.org/drawingml/2006/main">
            <a:off x="8153400" y="5191125"/>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1914"/>
                </a:solidFill>
                <a:latin typeface="Arial"/>
                <a:ea typeface="Arial"/>
                <a:cs typeface="Arial"/>
              </a:defRPr>
            </a:pPr>
            <a:r>
              <a:rPr sz="2100" b="1">
                <a:solidFill>
                  <a:srgbClr val="171914"/>
                </a:solidFill>
                <a:latin typeface="Arial"/>
                <a:ea typeface="Arial"/>
                <a:cs typeface="Arial"/>
              </a:rPr>
              <a:t>PATRICK FINLEY</a:t>
            </a:r>
          </a:p>
        </p:txBody>
      </p:sp>
      <p:sp>
        <p:nvSpPr>
          <p:cNvPr id="18" name="">
            <a:extLst xmlns:a="http://schemas.openxmlformats.org/drawingml/2006/main">
              <a:ext uri="{FF2B5EF4-FFF2-40B4-BE49-F238E27FC236}">
                <a16:creationId xmlns:a16="http://schemas.microsoft.com/office/drawing/2014/main" id="{8E097C06-59EA-4271-89E5-E121BCE49F1A}"/>
              </a:ext>
            </a:extLst>
          </p:cNvPr>
          <p:cNvSpPr>
            <a:spLocks xmlns:a="http://schemas.openxmlformats.org/drawingml/2006/main" noGrp="1"/>
          </p:cNvSpPr>
          <p:nvPr/>
        </p:nvSpPr>
        <p:spPr>
          <a:xfrm xmlns:a="http://schemas.openxmlformats.org/drawingml/2006/main">
            <a:off x="8153400" y="5600700"/>
            <a:ext cx="333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86B63"/>
                </a:solidFill>
                <a:latin typeface="Arial"/>
                <a:ea typeface="Arial"/>
                <a:cs typeface="Arial"/>
              </a:defRPr>
            </a:pPr>
            <a:r>
              <a:rPr sz="1350" b="0">
                <a:solidFill>
                  <a:srgbClr val="686B63"/>
                </a:solidFill>
                <a:latin typeface="Arial"/>
                <a:ea typeface="Arial"/>
                <a:cs typeface="Arial"/>
              </a:rPr>
              <a:t>he/him</a:t>
            </a:r>
          </a:p>
        </p:txBody>
      </p:sp>
      <p:sp>
        <p:nvSpPr>
          <p:cNvPr id="19" name="">
            <a:extLst xmlns:a="http://schemas.openxmlformats.org/drawingml/2006/main">
              <a:ext uri="{FF2B5EF4-FFF2-40B4-BE49-F238E27FC236}">
                <a16:creationId xmlns:a16="http://schemas.microsoft.com/office/drawing/2014/main" id="{1188CEEF-0512-4763-BF33-190C36F84155}"/>
              </a:ext>
            </a:extLst>
          </p:cNvPr>
          <p:cNvSpPr>
            <a:spLocks xmlns:a="http://schemas.openxmlformats.org/drawingml/2006/main" noGrp="1"/>
          </p:cNvSpPr>
          <p:nvPr/>
        </p:nvSpPr>
        <p:spPr>
          <a:xfrm xmlns:a="http://schemas.openxmlformats.org/drawingml/2006/main">
            <a:off x="8153400" y="5915025"/>
            <a:ext cx="3524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86B63"/>
                </a:solidFill>
                <a:latin typeface="Arial"/>
                <a:ea typeface="Arial"/>
                <a:cs typeface="Arial"/>
              </a:defRPr>
            </a:pPr>
            <a:r>
              <a:rPr sz="1500" b="0">
                <a:solidFill>
                  <a:srgbClr val="686B63"/>
                </a:solidFill>
                <a:latin typeface="Arial"/>
                <a:ea typeface="Arial"/>
                <a:cs typeface="Arial"/>
              </a:rPr>
              <a:t>Beat Starship VC &amp; friends at racing</a:t>
            </a:r>
          </a:p>
        </p:txBody>
      </p:sp>
      <p:sp>
        <p:nvSpPr>
          <p:cNvPr id="20" name="">
            <a:extLst xmlns:a="http://schemas.openxmlformats.org/drawingml/2006/main">
              <a:ext uri="{FF2B5EF4-FFF2-40B4-BE49-F238E27FC236}">
                <a16:creationId xmlns:a16="http://schemas.microsoft.com/office/drawing/2014/main" id="{37CA8A88-5E31-4ED5-B2DC-E332B149E17C}"/>
              </a:ext>
            </a:extLst>
          </p:cNvPr>
          <p:cNvSpPr>
            <a:spLocks xmlns:a="http://schemas.openxmlformats.org/drawingml/2006/main" noGrp="1"/>
          </p:cNvSpPr>
          <p:nvPr/>
        </p:nvSpPr>
        <p:spPr>
          <a:xfrm xmlns:a="http://schemas.openxmlformats.org/drawingml/2006/main">
            <a:off x="8153400" y="6248400"/>
            <a:ext cx="3381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FF6400"/>
                </a:solidFill>
                <a:latin typeface="Arial"/>
                <a:ea typeface="Arial"/>
                <a:cs typeface="Arial"/>
              </a:defRPr>
            </a:pPr>
            <a:r>
              <a:rPr sz="1575" b="1">
                <a:solidFill>
                  <a:srgbClr val="FF6400"/>
                </a:solidFill>
                <a:latin typeface="Arial"/>
                <a:ea typeface="Arial"/>
                <a:cs typeface="Arial"/>
              </a:rPr>
              <a:t>Emergency contact</a:t>
            </a:r>
          </a:p>
        </p:txBody>
      </p:sp>
    </p:spTree>
    <p:extLst>
      <p:ext uri="{BB962C8B-B14F-4D97-AF65-F5344CB8AC3E}">
        <p14:creationId xmlns:p14="http://schemas.microsoft.com/office/powerpoint/2010/main" val="133891809"/>
      </p:ext>
    </p:extLst>
  </p:cSld>
</p:sld>
</file>

<file path=ppt/slides/slide8.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D396DD7-EFB5-417B-86C3-C3B97F384A9B}"/>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6B63"/>
                </a:solidFill>
                <a:latin typeface="Arial"/>
                <a:ea typeface="Arial"/>
                <a:cs typeface="Arial"/>
              </a:defRPr>
            </a:pPr>
            <a:r>
              <a:rPr sz="1200" b="0">
                <a:solidFill>
                  <a:srgbClr val="686B63"/>
                </a:solidFill>
                <a:latin typeface="Arial"/>
                <a:ea typeface="Arial"/>
                <a:cs typeface="Arial"/>
              </a:rPr>
              <a:t>08</a:t>
            </a:r>
          </a:p>
        </p:txBody>
      </p:sp>
      <p:sp>
        <p:nvSpPr>
          <p:cNvPr id="2" name="">
            <a:extLst xmlns:a="http://schemas.openxmlformats.org/drawingml/2006/main">
              <a:ext uri="{FF2B5EF4-FFF2-40B4-BE49-F238E27FC236}">
                <a16:creationId xmlns:a16="http://schemas.microsoft.com/office/drawing/2014/main" id="{D0B46ABA-2C40-48CD-870B-1940FF6349AB}"/>
              </a:ext>
            </a:extLst>
          </p:cNvPr>
          <p:cNvSpPr>
            <a:spLocks xmlns:a="http://schemas.openxmlformats.org/drawingml/2006/main" noGrp="1"/>
          </p:cNvSpPr>
          <p:nvPr/>
        </p:nvSpPr>
        <p:spPr>
          <a:xfrm xmlns:a="http://schemas.openxmlformats.org/drawingml/2006/main">
            <a:off x="666750" y="47625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F6400"/>
                </a:solidFill>
                <a:latin typeface="Arial"/>
                <a:ea typeface="Arial"/>
                <a:cs typeface="Arial"/>
              </a:defRPr>
            </a:pPr>
            <a:r>
              <a:rPr sz="1725" b="1">
                <a:solidFill>
                  <a:srgbClr val="FF6400"/>
                </a:solidFill>
                <a:latin typeface="Arial"/>
                <a:ea typeface="Arial"/>
                <a:cs typeface="Arial"/>
              </a:rPr>
              <a:t>TECHNICAL DILIGENCE</a:t>
            </a:r>
          </a:p>
        </p:txBody>
      </p:sp>
      <p:sp>
        <p:nvSpPr>
          <p:cNvPr id="3" name="">
            <a:extLst xmlns:a="http://schemas.openxmlformats.org/drawingml/2006/main">
              <a:ext uri="{FF2B5EF4-FFF2-40B4-BE49-F238E27FC236}">
                <a16:creationId xmlns:a16="http://schemas.microsoft.com/office/drawing/2014/main" id="{993E7069-6AB5-44FA-8D49-A3472109FE63}"/>
              </a:ext>
            </a:extLst>
          </p:cNvPr>
          <p:cNvSpPr>
            <a:spLocks xmlns:a="http://schemas.openxmlformats.org/drawingml/2006/main" noGrp="1"/>
          </p:cNvSpPr>
          <p:nvPr/>
        </p:nvSpPr>
        <p:spPr>
          <a:xfrm xmlns:a="http://schemas.openxmlformats.org/drawingml/2006/main">
            <a:off x="657225" y="1619250"/>
            <a:ext cx="104775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900" b="1">
                <a:solidFill>
                  <a:srgbClr val="171914"/>
                </a:solidFill>
                <a:latin typeface="Arial"/>
                <a:ea typeface="Arial"/>
                <a:cs typeface="Arial"/>
              </a:defRPr>
            </a:pPr>
            <a:r>
              <a:rPr sz="6900" b="1">
                <a:solidFill>
                  <a:srgbClr val="171914"/>
                </a:solidFill>
                <a:latin typeface="Arial"/>
                <a:ea typeface="Arial"/>
                <a:cs typeface="Arial"/>
              </a:rPr>
              <a:t>We have Will.</a:t>
            </a:r>
          </a:p>
        </p:txBody>
      </p:sp>
      <p:sp>
        <p:nvSpPr>
          <p:cNvPr id="4" name="">
            <a:extLst xmlns:a="http://schemas.openxmlformats.org/drawingml/2006/main">
              <a:ext uri="{FF2B5EF4-FFF2-40B4-BE49-F238E27FC236}">
                <a16:creationId xmlns:a16="http://schemas.microsoft.com/office/drawing/2014/main" id="{BA926A45-F12F-44BA-A9E8-1606FDE990F4}"/>
              </a:ext>
            </a:extLst>
          </p:cNvPr>
          <p:cNvSpPr>
            <a:spLocks xmlns:a="http://schemas.openxmlformats.org/drawingml/2006/main" noGrp="1"/>
          </p:cNvSpPr>
          <p:nvPr/>
        </p:nvSpPr>
        <p:spPr>
          <a:xfrm xmlns:a="http://schemas.openxmlformats.org/drawingml/2006/main">
            <a:off x="723900" y="3333750"/>
            <a:ext cx="76200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71914"/>
                </a:solidFill>
                <a:latin typeface="Arial"/>
                <a:ea typeface="Arial"/>
                <a:cs typeface="Arial"/>
              </a:defRPr>
            </a:pPr>
            <a:r>
              <a:rPr sz="2700" b="0">
                <a:solidFill>
                  <a:srgbClr val="171914"/>
                </a:solidFill>
                <a:latin typeface="Arial"/>
                <a:ea typeface="Arial"/>
                <a:cs typeface="Arial"/>
              </a:rPr>
              <a:t>He spent 12 years at SpaceX.</a:t>
            </a:r>
          </a:p>
          <a:p xmlns:a="http://schemas.openxmlformats.org/drawingml/2006/main">
            <a:pPr>
              <a:defRPr sz="2700" b="0">
                <a:solidFill>
                  <a:srgbClr val="171914"/>
                </a:solidFill>
                <a:latin typeface="Arial"/>
                <a:ea typeface="Arial"/>
                <a:cs typeface="Arial"/>
              </a:defRPr>
            </a:pPr>
            <a:r>
              <a:rPr sz="2700" b="0">
                <a:solidFill>
                  <a:srgbClr val="171914"/>
                </a:solidFill>
                <a:latin typeface="Arial"/>
                <a:ea typeface="Arial"/>
                <a:cs typeface="Arial"/>
              </a:rPr>
              <a:t>We spent 12 minutes with his headshot.</a:t>
            </a:r>
          </a:p>
        </p:txBody>
      </p:sp>
      <p:sp>
        <p:nvSpPr>
          <p:cNvPr id="5" name="">
            <a:extLst xmlns:a="http://schemas.openxmlformats.org/drawingml/2006/main">
              <a:ext uri="{FF2B5EF4-FFF2-40B4-BE49-F238E27FC236}">
                <a16:creationId xmlns:a16="http://schemas.microsoft.com/office/drawing/2014/main" id="{73164202-6034-431E-BF92-05CCDDF35A77}"/>
              </a:ext>
            </a:extLst>
          </p:cNvPr>
          <p:cNvSpPr>
            <a:spLocks xmlns:a="http://schemas.openxmlformats.org/drawingml/2006/main" noGrp="1"/>
          </p:cNvSpPr>
          <p:nvPr/>
        </p:nvSpPr>
        <p:spPr>
          <a:xfrm xmlns:a="http://schemas.openxmlformats.org/drawingml/2006/main">
            <a:off x="723900" y="5410200"/>
            <a:ext cx="990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FF6400"/>
                </a:solidFill>
                <a:latin typeface="Arial"/>
                <a:ea typeface="Arial"/>
                <a:cs typeface="Arial"/>
              </a:defRPr>
            </a:pPr>
            <a:r>
              <a:rPr sz="3675" b="1">
                <a:solidFill>
                  <a:srgbClr val="FF6400"/>
                </a:solidFill>
                <a:latin typeface="Arial"/>
                <a:ea typeface="Arial"/>
                <a:cs typeface="Arial"/>
              </a:rPr>
              <a:t>Due diligence complete.</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5997215e4b27410d"/>
          <a:stretch xmlns:a="http://schemas.openxmlformats.org/drawingml/2006/main"/>
        </p:blipFill>
        <p:spPr>
          <a:xfrm xmlns:a="http://schemas.openxmlformats.org/drawingml/2006/main">
            <a:off x="9201150" y="3333750"/>
            <a:ext cx="1657350" cy="16573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1AF25F6A-1CAA-488A-AE47-17364F8AEE25}"/>
              </a:ext>
            </a:extLst>
          </p:cNvPr>
          <p:cNvSpPr>
            <a:spLocks xmlns:a="http://schemas.openxmlformats.org/drawingml/2006/main" noGrp="1"/>
          </p:cNvSpPr>
          <p:nvPr/>
        </p:nvSpPr>
        <p:spPr>
          <a:xfrm xmlns:a="http://schemas.openxmlformats.org/drawingml/2006/main">
            <a:off x="9105900" y="5086350"/>
            <a:ext cx="2419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1914"/>
                </a:solidFill>
                <a:latin typeface="Arial"/>
                <a:ea typeface="Arial"/>
                <a:cs typeface="Arial"/>
              </a:defRPr>
            </a:pPr>
            <a:r>
              <a:rPr sz="1575" b="1">
                <a:solidFill>
                  <a:srgbClr val="171914"/>
                </a:solidFill>
                <a:latin typeface="Arial"/>
                <a:ea typeface="Arial"/>
                <a:cs typeface="Arial"/>
              </a:rPr>
              <a:t>WILL HELTSLEY</a:t>
            </a:r>
          </a:p>
        </p:txBody>
      </p:sp>
    </p:spTree>
    <p:extLst>
      <p:ext uri="{BB962C8B-B14F-4D97-AF65-F5344CB8AC3E}">
        <p14:creationId xmlns:p14="http://schemas.microsoft.com/office/powerpoint/2010/main" val="1061925532"/>
      </p:ext>
    </p:extLst>
  </p:cSld>
</p:sld>
</file>

<file path=ppt/slides/slide9.xml><?xml version="1.0" encoding="utf-8"?>
<p:sld xmlns:p="http://schemas.openxmlformats.org/presentationml/2006/main">
  <p:cSld>
    <p:bg>
      <p:bgPr>
        <a:solidFill xmlns:a="http://schemas.openxmlformats.org/drawingml/2006/main">
          <a:srgbClr val="FF640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A6E521C-F4FE-42B9-B4FB-D0D57FED617D}"/>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6B63"/>
                </a:solidFill>
                <a:latin typeface="Arial"/>
                <a:ea typeface="Arial"/>
                <a:cs typeface="Arial"/>
              </a:defRPr>
            </a:pPr>
            <a:r>
              <a:rPr sz="1200" b="0">
                <a:solidFill>
                  <a:srgbClr val="686B63"/>
                </a:solidFill>
                <a:latin typeface="Arial"/>
                <a:ea typeface="Arial"/>
                <a:cs typeface="Arial"/>
              </a:rPr>
              <a:t>09</a:t>
            </a:r>
          </a:p>
        </p:txBody>
      </p:sp>
      <p:sp>
        <p:nvSpPr>
          <p:cNvPr id="2" name="">
            <a:extLst xmlns:a="http://schemas.openxmlformats.org/drawingml/2006/main">
              <a:ext uri="{FF2B5EF4-FFF2-40B4-BE49-F238E27FC236}">
                <a16:creationId xmlns:a16="http://schemas.microsoft.com/office/drawing/2014/main" id="{41F1196F-C20A-4172-B170-FC1A11CD65F2}"/>
              </a:ext>
            </a:extLst>
          </p:cNvPr>
          <p:cNvSpPr>
            <a:spLocks xmlns:a="http://schemas.openxmlformats.org/drawingml/2006/main" noGrp="1"/>
          </p:cNvSpPr>
          <p:nvPr/>
        </p:nvSpPr>
        <p:spPr>
          <a:xfrm xmlns:a="http://schemas.openxmlformats.org/drawingml/2006/main">
            <a:off x="685800" y="542925"/>
            <a:ext cx="1028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75" b="1">
                <a:solidFill>
                  <a:srgbClr val="171914"/>
                </a:solidFill>
                <a:latin typeface="Arial"/>
                <a:ea typeface="Arial"/>
                <a:cs typeface="Arial"/>
              </a:defRPr>
            </a:pPr>
            <a:r>
              <a:rPr sz="3975" b="1">
                <a:solidFill>
                  <a:srgbClr val="171914"/>
                </a:solidFill>
                <a:latin typeface="Arial"/>
                <a:ea typeface="Arial"/>
                <a:cs typeface="Arial"/>
              </a:rPr>
              <a:t>STOPLINK</a:t>
            </a:r>
          </a:p>
        </p:txBody>
      </p:sp>
      <p:sp>
        <p:nvSpPr>
          <p:cNvPr id="3" name="">
            <a:extLst xmlns:a="http://schemas.openxmlformats.org/drawingml/2006/main">
              <a:ext uri="{FF2B5EF4-FFF2-40B4-BE49-F238E27FC236}">
                <a16:creationId xmlns:a16="http://schemas.microsoft.com/office/drawing/2014/main" id="{62AB5DCB-C659-4745-84B8-0DECB9823F4A}"/>
              </a:ext>
            </a:extLst>
          </p:cNvPr>
          <p:cNvSpPr>
            <a:spLocks xmlns:a="http://schemas.openxmlformats.org/drawingml/2006/main" noGrp="1"/>
          </p:cNvSpPr>
          <p:nvPr/>
        </p:nvSpPr>
        <p:spPr>
          <a:xfrm xmlns:a="http://schemas.openxmlformats.org/drawingml/2006/main">
            <a:off x="619125" y="1704975"/>
            <a:ext cx="108585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600" b="1">
                <a:solidFill>
                  <a:srgbClr val="171914"/>
                </a:solidFill>
                <a:latin typeface="Arial"/>
                <a:ea typeface="Arial"/>
                <a:cs typeface="Arial"/>
              </a:defRPr>
            </a:pPr>
            <a:r>
              <a:rPr sz="6600" b="1">
                <a:solidFill>
                  <a:srgbClr val="171914"/>
                </a:solidFill>
                <a:latin typeface="Arial"/>
                <a:ea typeface="Arial"/>
                <a:cs typeface="Arial"/>
              </a:rPr>
              <a:t>Invest in dollars.</a:t>
            </a:r>
          </a:p>
          <a:p xmlns:a="http://schemas.openxmlformats.org/drawingml/2006/main">
            <a:pPr>
              <a:defRPr sz="6600" b="1">
                <a:solidFill>
                  <a:srgbClr val="171914"/>
                </a:solidFill>
                <a:latin typeface="Arial"/>
                <a:ea typeface="Arial"/>
                <a:cs typeface="Arial"/>
              </a:defRPr>
            </a:pPr>
            <a:r>
              <a:rPr sz="6600" b="1">
                <a:solidFill>
                  <a:srgbClr val="171914"/>
                </a:solidFill>
                <a:latin typeface="Arial"/>
                <a:ea typeface="Arial"/>
                <a:cs typeface="Arial"/>
              </a:rPr>
              <a:t>Get returns</a:t>
            </a:r>
          </a:p>
          <a:p xmlns:a="http://schemas.openxmlformats.org/drawingml/2006/main">
            <a:pPr>
              <a:defRPr sz="6600" b="1">
                <a:solidFill>
                  <a:srgbClr val="171914"/>
                </a:solidFill>
                <a:latin typeface="Arial"/>
                <a:ea typeface="Arial"/>
                <a:cs typeface="Arial"/>
              </a:defRPr>
            </a:pPr>
            <a:r>
              <a:rPr sz="6600" b="1">
                <a:solidFill>
                  <a:srgbClr val="171914"/>
                </a:solidFill>
                <a:latin typeface="Arial"/>
                <a:ea typeface="Arial"/>
                <a:cs typeface="Arial"/>
              </a:rPr>
              <a:t>in miles.</a:t>
            </a:r>
          </a:p>
        </p:txBody>
      </p:sp>
      <p:sp>
        <p:nvSpPr>
          <p:cNvPr id="4" name="">
            <a:extLst xmlns:a="http://schemas.openxmlformats.org/drawingml/2006/main">
              <a:ext uri="{FF2B5EF4-FFF2-40B4-BE49-F238E27FC236}">
                <a16:creationId xmlns:a16="http://schemas.microsoft.com/office/drawing/2014/main" id="{3B8FEDC0-2911-4B47-8D8D-39D3A0B9F666}"/>
              </a:ext>
            </a:extLst>
          </p:cNvPr>
          <p:cNvSpPr>
            <a:spLocks xmlns:a="http://schemas.openxmlformats.org/drawingml/2006/main" noGrp="1"/>
          </p:cNvSpPr>
          <p:nvPr/>
        </p:nvSpPr>
        <p:spPr>
          <a:xfrm xmlns:a="http://schemas.openxmlformats.org/drawingml/2006/main">
            <a:off x="723900" y="555307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71914"/>
                </a:solidFill>
                <a:latin typeface="Arial"/>
                <a:ea typeface="Arial"/>
                <a:cs typeface="Arial"/>
              </a:defRPr>
            </a:pPr>
            <a:r>
              <a:rPr sz="3000" b="0">
                <a:solidFill>
                  <a:srgbClr val="171914"/>
                </a:solidFill>
                <a:latin typeface="Arial"/>
                <a:ea typeface="Arial"/>
                <a:cs typeface="Arial"/>
              </a:rPr>
              <a:t>Subject to availability.</a:t>
            </a:r>
          </a:p>
        </p:txBody>
      </p:sp>
    </p:spTree>
    <p:extLst>
      <p:ext uri="{BB962C8B-B14F-4D97-AF65-F5344CB8AC3E}">
        <p14:creationId xmlns:p14="http://schemas.microsoft.com/office/powerpoint/2010/main" val="61044997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2026-09-20T04:52:58.0640000Z</dcterms:created>
  <dcterms:modified xsi:type="dcterms:W3CDTF">2026-09-20T04:52:58.0640000Z</dcterms:modified>
</coreProperties>
</file>