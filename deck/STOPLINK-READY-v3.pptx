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3e3f8ed39f44f6" /><Relationship Type="http://schemas.openxmlformats.org/officeDocument/2006/relationships/extended-properties" Target="/docProps/app.xml" Id="Rd9587eafc2164bbb" /><Relationship Type="http://schemas.openxmlformats.org/officeDocument/2006/relationships/officeDocument" Target="/ppt/presentation.xml" Id="Re0c17345e895414b" /></Relationships>
</file>

<file path=ppt/presentation.xml><?xml version="1.0" encoding="utf-8"?>
<p:presentation xmlns:p="http://schemas.openxmlformats.org/presentationml/2006/main">
  <p:sldMasterIdLst>
    <p:sldMasterId xmlns:r="http://schemas.openxmlformats.org/officeDocument/2006/relationships" id="2147483648" r:id="R4668bc55eda24818"/>
  </p:sldMasterIdLst>
  <p:notesMasterIdLst>
    <p:notesMasterId xmlns:r="http://schemas.openxmlformats.org/officeDocument/2006/relationships" r:id="Rad2366b0a2664156"/>
  </p:notesMasterIdLst>
  <p:sldIdLst>
    <p:sldId xmlns:r="http://schemas.openxmlformats.org/officeDocument/2006/relationships" id="256" r:id="Ra5b3bf7f9e304aac"/>
    <p:sldId xmlns:r="http://schemas.openxmlformats.org/officeDocument/2006/relationships" id="257" r:id="R37480448bd9748a5"/>
    <p:sldId xmlns:r="http://schemas.openxmlformats.org/officeDocument/2006/relationships" id="258" r:id="R95fc10a06d6646b2"/>
    <p:sldId xmlns:r="http://schemas.openxmlformats.org/officeDocument/2006/relationships" id="259" r:id="Rd3858bed4b414290"/>
    <p:sldId xmlns:r="http://schemas.openxmlformats.org/officeDocument/2006/relationships" id="260" r:id="R7e94ff95f06a458c"/>
    <p:sldId xmlns:r="http://schemas.openxmlformats.org/officeDocument/2006/relationships" id="261" r:id="R6d34e19e0b814cc6"/>
    <p:sldId xmlns:r="http://schemas.openxmlformats.org/officeDocument/2006/relationships" id="262" r:id="Rca4ae1037010479d"/>
    <p:sldId xmlns:r="http://schemas.openxmlformats.org/officeDocument/2006/relationships" id="263" r:id="Rd49bfa836b2e44ca"/>
    <p:sldId xmlns:r="http://schemas.openxmlformats.org/officeDocument/2006/relationships" id="264" r:id="R9b81086af83148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46e94001694aa2" /><Relationship Type="http://schemas.openxmlformats.org/officeDocument/2006/relationships/slideMaster" Target="/ppt/slideMasters/slideMaster1.xml" Id="R4668bc55eda24818" /><Relationship Type="http://schemas.openxmlformats.org/officeDocument/2006/relationships/notesMaster" Target="/ppt/notesMasters/notesMaster1.xml" Id="Rad2366b0a2664156" /><Relationship Type="http://schemas.openxmlformats.org/officeDocument/2006/relationships/presProps" Target="/ppt/presProps.xml" Id="R6badb874be4a4013" /><Relationship Type="http://schemas.openxmlformats.org/officeDocument/2006/relationships/tableStyles" Target="/ppt/tableStyles.xml" Id="R22d56b02fae34f5d" /><Relationship Type="http://schemas.openxmlformats.org/officeDocument/2006/relationships/slide" Target="/ppt/slides/slide1.xml" Id="Ra5b3bf7f9e304aac" /><Relationship Type="http://schemas.openxmlformats.org/officeDocument/2006/relationships/slide" Target="/ppt/slides/slide2.xml" Id="R37480448bd9748a5" /><Relationship Type="http://schemas.openxmlformats.org/officeDocument/2006/relationships/slide" Target="/ppt/slides/slide3.xml" Id="R95fc10a06d6646b2" /><Relationship Type="http://schemas.openxmlformats.org/officeDocument/2006/relationships/slide" Target="/ppt/slides/slide4.xml" Id="Rd3858bed4b414290" /><Relationship Type="http://schemas.openxmlformats.org/officeDocument/2006/relationships/slide" Target="/ppt/slides/slide5.xml" Id="R7e94ff95f06a458c" /><Relationship Type="http://schemas.openxmlformats.org/officeDocument/2006/relationships/slide" Target="/ppt/slides/slide6.xml" Id="R6d34e19e0b814cc6" /><Relationship Type="http://schemas.openxmlformats.org/officeDocument/2006/relationships/slide" Target="/ppt/slides/slide7.xml" Id="Rca4ae1037010479d" /><Relationship Type="http://schemas.openxmlformats.org/officeDocument/2006/relationships/slide" Target="/ppt/slides/slide8.xml" Id="Rd49bfa836b2e44ca" /><Relationship Type="http://schemas.openxmlformats.org/officeDocument/2006/relationships/slide" Target="/ppt/slides/slide9.xml" Id="R9b81086af83148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f4546001254a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b92e9ea7e48bd" /><Relationship Type="http://schemas.openxmlformats.org/officeDocument/2006/relationships/notesMaster" Target="/ppt/notesMasters/notesMaster1.xml" Id="R2ca8e2b98d7b4f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8f1fb3810443d2" /><Relationship Type="http://schemas.openxmlformats.org/officeDocument/2006/relationships/notesMaster" Target="/ppt/notesMasters/notesMaster1.xml" Id="Rbb9141ea0ada49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687840486a42c9" /><Relationship Type="http://schemas.openxmlformats.org/officeDocument/2006/relationships/notesMaster" Target="/ppt/notesMasters/notesMaster1.xml" Id="R952a8575ece147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a9eae32e0049a9" /><Relationship Type="http://schemas.openxmlformats.org/officeDocument/2006/relationships/notesMaster" Target="/ppt/notesMasters/notesMaster1.xml" Id="R866165d9ef8c42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15f5c206374112" /><Relationship Type="http://schemas.openxmlformats.org/officeDocument/2006/relationships/notesMaster" Target="/ppt/notesMasters/notesMaster1.xml" Id="R86c323f55ada4c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ce10553b8f4ebf" /><Relationship Type="http://schemas.openxmlformats.org/officeDocument/2006/relationships/notesMaster" Target="/ppt/notesMasters/notesMaster1.xml" Id="R326c8fda46154e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4ed4d4413b44c8" /><Relationship Type="http://schemas.openxmlformats.org/officeDocument/2006/relationships/notesMaster" Target="/ppt/notesMasters/notesMaster1.xml" Id="R25cd8a0ff63f47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11a544b3654cea" /><Relationship Type="http://schemas.openxmlformats.org/officeDocument/2006/relationships/notesMaster" Target="/ppt/notesMasters/notesMaster1.xml" Id="R59311f9519794a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8f2486d9fe4916" /><Relationship Type="http://schemas.openxmlformats.org/officeDocument/2006/relationships/notesMaster" Target="/ppt/notesMasters/notesMaster1.xml" Id="R8245accb914841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STOPLINK builds orbital data centers for truck stops. We host the essential infrastructure of the American interstate.</a:t>
            </a:r>
          </a:p>
          <a:p xmlns:a="http://schemas.openxmlformats.org/drawingml/2006/main">
            <a:r>
              <a:t/>
            </a:r>
          </a:p>
          <a:p xmlns:a="http://schemas.openxmlformats.org/drawingml/2006/main">
            <a:r>
              <a:t>*[Dead straight.]*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Specifically, a rewards app. Truck stops buy airline miles from us to reward diesel purchases and keep drivers coming back. Drivers redeem those miles for flights on existing airlines. The app lives in our orbital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A driver buys diesel. The purchase reaches our app in orbit. The app updates their miles balance and lets them book a flight. That is it.</a:t>
            </a:r>
          </a:p>
          <a:p xmlns:a="http://schemas.openxmlformats.org/drawingml/2006/main">
            <a:r>
              <a:t/>
            </a:r>
          </a:p>
          <a:p xmlns:a="http://schemas.openxmlformats.org/drawingml/2006/main">
            <a:r>
              <a:t>**PATRICK:** It is literally just hosting the fucking app. We have made a gas-station rewards database launch-critical.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miles. One hundred percent of our planned revenue. We are not selling compute, and we are not an airline.</a:t>
            </a:r>
          </a:p>
          <a:p xmlns:a="http://schemas.openxmlformats.org/drawingml/2006/main">
            <a:r>
              <a:t/>
            </a:r>
          </a:p>
          <a:p xmlns:a="http://schemas.openxmlformats.org/drawingml/2006/main">
            <a:r>
              <a:t>**PATRICK:**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pay us for miles. Drivers earn them on fuel and food. When drivers redeem, we buy an actual airline ticket. We keep the difference after rewards and operating costs.</a:t>
            </a:r>
          </a:p>
          <a:p xmlns:a="http://schemas.openxmlformats.org/drawingml/2006/main">
            <a:r>
              <a:t/>
            </a:r>
          </a:p>
          <a:p xmlns:a="http://schemas.openxmlformats.org/drawingml/2006/main">
            <a:r>
              <a:t>**PATRICK:** The first airline with no airplanes. Our fleet has never been late. Our fleet is a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We were worried about AWS, control of our data, and regulators. So we spent six hundred million dollars moving the app to space.</a:t>
            </a:r>
          </a:p>
          <a:p xmlns:a="http://schemas.openxmlformats.org/drawingml/2006/main">
            <a:r>
              <a:t/>
            </a:r>
          </a:p>
          <a:p xmlns:a="http://schemas.openxmlformats.org/drawingml/2006/main">
            <a:r>
              <a:t>**PATRICK:** AWS asked us to pick a region. Nadav selected “away.”</a:t>
            </a:r>
          </a:p>
          <a:p xmlns:a="http://schemas.openxmlformats.org/drawingml/2006/main">
            <a:r>
              <a:t/>
            </a:r>
          </a:p>
          <a:p xmlns:a="http://schemas.openxmlformats.org/drawingml/2006/main">
            <a:r>
              <a:t>**PARKER:** Our lawyer said orbit does not fix the regulatory problem.</a:t>
            </a:r>
          </a:p>
          <a:p xmlns:a="http://schemas.openxmlformats.org/drawingml/2006/main">
            <a:r>
              <a:t/>
            </a:r>
          </a:p>
          <a:p xmlns:a="http://schemas.openxmlformats.org/drawingml/2006/main">
            <a:r>
              <a:t>**PATRICK:** We asked Will how much higher the rocket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I am Patrick, the emergency contact. They each get one phone call.</a:t>
            </a:r>
          </a:p>
          <a:p xmlns:a="http://schemas.openxmlformats.org/drawingml/2006/main">
            <a:r>
              <a:t/>
            </a:r>
          </a:p>
          <a:p xmlns:a="http://schemas.openxmlformats.org/drawingml/2006/main">
            <a:r>
              <a:t>*[Pause. Optional tag: I am also the guy in the documentary saying, “Looking back, there were signs.”]*</a:t>
            </a:r>
          </a:p>
          <a:p xmlns:a="http://schemas.openxmlformats.org/drawingml/2006/main">
            <a:r>
              <a:t/>
            </a:r>
          </a:p>
          <a:p xmlns:a="http://schemas.openxmlformats.org/drawingml/2006/main">
            <a:r>
              <a:t>**PATRICK:** I beat the Starship guys at racing. So I’ve already delivered a loss to Starship. This time I’m asking them to invest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a:t>
            </a:r>
          </a:p>
          <a:p xmlns:a="http://schemas.openxmlformats.org/drawingml/2006/main">
            <a:r>
              <a:t/>
            </a:r>
          </a:p>
          <a:p xmlns:a="http://schemas.openxmlformats.org/drawingml/2006/main">
            <a:r>
              <a:t>**PATRICK:** We spent twelve minutes with his headshot. Due diligence complete.</a:t>
            </a:r>
          </a:p>
          <a:p xmlns:a="http://schemas.openxmlformats.org/drawingml/2006/main">
            <a:r>
              <a:t/>
            </a:r>
          </a:p>
          <a:p xmlns:a="http://schemas.openxmlformats.org/drawingml/2006/main">
            <a:r>
              <a:t>*[Pause.]*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are the customers. Miles are the product. The orbital data center hosts the app.</a:t>
            </a:r>
          </a:p>
          <a:p xmlns:a="http://schemas.openxmlformats.org/drawingml/2006/main">
            <a:r>
              <a:t/>
            </a:r>
          </a:p>
          <a:p xmlns:a="http://schemas.openxmlformats.org/drawingml/2006/main">
            <a:r>
              <a:t>**NADAV:** Invest in dollars.</a:t>
            </a:r>
          </a:p>
          <a:p xmlns:a="http://schemas.openxmlformats.org/drawingml/2006/main">
            <a:r>
              <a:t/>
            </a:r>
          </a:p>
          <a:p xmlns:a="http://schemas.openxmlformats.org/drawingml/2006/main">
            <a:r>
              <a:t>**PATRICK:** Get returns in miles. Subject to availability.</a:t>
            </a:r>
          </a:p>
          <a:p xmlns:a="http://schemas.openxmlformats.org/drawingml/2006/main">
            <a:r>
              <a:t/>
            </a:r>
          </a:p>
          <a:p xmlns:a="http://schemas.openxmlformats.org/drawingml/2006/main">
            <a:r>
              <a:t>*[Stop.]*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0e7018fa44f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52ddf3441c41ed" /><Relationship Type="http://schemas.openxmlformats.org/officeDocument/2006/relationships/slideLayout" Target="/ppt/slideLayouts/slideLayout1.xml" Id="Rae5d88da273640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5d88da273640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3edf0005c84449" /><Relationship Type="http://schemas.openxmlformats.org/officeDocument/2006/relationships/image" Target="/ppt/media/image.png" Id="R34e013a424034d29" /><Relationship Type="http://schemas.openxmlformats.org/officeDocument/2006/relationships/notesSlide" Target="/ppt/notesSlides/notesSlide1.xml" Id="R95ccd5d1f97643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65bcc11e414ce1" /><Relationship Type="http://schemas.openxmlformats.org/officeDocument/2006/relationships/notesSlide" Target="/ppt/notesSlides/notesSlide2.xml" Id="R926f9df9e51c48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1aa24ada064f39" /><Relationship Type="http://schemas.openxmlformats.org/officeDocument/2006/relationships/notesSlide" Target="/ppt/notesSlides/notesSlide3.xml" Id="R9fa0cb0491a74f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476ceb20b44427" /><Relationship Type="http://schemas.openxmlformats.org/officeDocument/2006/relationships/notesSlide" Target="/ppt/notesSlides/notesSlide4.xml" Id="R6f16d3c665bc4c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bde02bce704c9f" /><Relationship Type="http://schemas.openxmlformats.org/officeDocument/2006/relationships/notesSlide" Target="/ppt/notesSlides/notesSlide5.xml" Id="Reb43ceb4ea1045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c4f5b17c1544aa" /><Relationship Type="http://schemas.openxmlformats.org/officeDocument/2006/relationships/image" Target="/ppt/media/image.jpeg" Id="R55f708d9ec8944dd" /><Relationship Type="http://schemas.openxmlformats.org/officeDocument/2006/relationships/notesSlide" Target="/ppt/notesSlides/notesSlide6.xml" Id="R034b1912f02047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eebbd44d5a48d5" /><Relationship Type="http://schemas.openxmlformats.org/officeDocument/2006/relationships/image" Target="/ppt/media/image2.jpeg" Id="R14b5fd33478d4573" /><Relationship Type="http://schemas.openxmlformats.org/officeDocument/2006/relationships/image" Target="/ppt/media/image2.png" Id="Rca35f08fc3f544f0" /><Relationship Type="http://schemas.openxmlformats.org/officeDocument/2006/relationships/image" Target="/ppt/media/image3.png" Id="Rd97acd7bf9914468" /><Relationship Type="http://schemas.openxmlformats.org/officeDocument/2006/relationships/notesSlide" Target="/ppt/notesSlides/notesSlide7.xml" Id="R68701b8c692b4d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ccd76b16b74159" /><Relationship Type="http://schemas.openxmlformats.org/officeDocument/2006/relationships/image" Target="/ppt/media/image4.png" Id="R10b9d57a81944818" /><Relationship Type="http://schemas.openxmlformats.org/officeDocument/2006/relationships/notesSlide" Target="/ppt/notesSlides/notesSlide8.xml" Id="Rd3ad69cb0b6d45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190755a8be4db3" /><Relationship Type="http://schemas.openxmlformats.org/officeDocument/2006/relationships/notesSlide" Target="/ppt/notesSlides/notesSlide9.xml" Id="Rbf7f6908e6e7428d"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A9DD55-63BD-4312-8001-A45C9EDBC0E0}"/>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4e013a424034d29"/>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0D9811-1BD7-4B8A-BA96-9176E6CE8913}"/>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D656D659-8DA8-4B91-9C47-30B780D99D23}"/>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4D5D19-3A0A-4D72-84F8-907DEF2C417F}"/>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47B7252B-F594-4EC9-8375-F20A30409656}"/>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361401110"/>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4E4D93-0783-420F-92F8-D565324DD545}"/>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7418BB63-B8C1-4A4F-A06A-D57EA08CBA92}"/>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F710D6C0-23CE-4571-8A2C-866C48C75EC0}"/>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7EF66792-DDB5-45E9-8D5A-301CA74D5E91}"/>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2BB4D04E-A3D0-4AAA-9995-D69018291CE0}"/>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7FF5FA45-4307-46CE-B8BD-8C8CAF706FD0}"/>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400"/>
                </a:solidFill>
                <a:latin typeface="Arial"/>
                <a:ea typeface="Arial"/>
                <a:cs typeface="Arial"/>
              </a:defRPr>
            </a:pPr>
            <a:r>
              <a:rPr sz="2850" b="1">
                <a:solidFill>
                  <a:srgbClr val="FF6400"/>
                </a:solidFill>
                <a:latin typeface="Arial"/>
                <a:ea typeface="Arial"/>
                <a:cs typeface="Arial"/>
              </a:rPr>
              <a:t>The loyalty app lives in an orbital data center.</a:t>
            </a:r>
          </a:p>
        </p:txBody>
      </p:sp>
    </p:spTree>
    <p:extLst>
      <p:ext uri="{BB962C8B-B14F-4D97-AF65-F5344CB8AC3E}">
        <p14:creationId xmlns:p14="http://schemas.microsoft.com/office/powerpoint/2010/main" val="169140411"/>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8EC220-5CD5-4CE1-8DB6-F5CDEB98F161}"/>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4696AACE-D2D6-4DBD-AF12-B99AFB1C1D16}"/>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659D80D0-D148-4D37-A946-9795C6FD21CE}"/>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The data center</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hosts the app.</a:t>
            </a:r>
          </a:p>
        </p:txBody>
      </p:sp>
      <p:sp>
        <p:nvSpPr>
          <p:cNvPr id="4" name="">
            <a:extLst xmlns:a="http://schemas.openxmlformats.org/drawingml/2006/main">
              <a:ext uri="{FF2B5EF4-FFF2-40B4-BE49-F238E27FC236}">
                <a16:creationId xmlns:a16="http://schemas.microsoft.com/office/drawing/2014/main" id="{8E45DAC6-B930-4E28-BB9A-33C421ECB39E}"/>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6004F3-30C7-4E91-9D43-4624233A7E0E}"/>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Fuel purchase</a:t>
            </a:r>
          </a:p>
        </p:txBody>
      </p:sp>
      <p:sp>
        <p:nvSpPr>
          <p:cNvPr id="6" name="">
            <a:extLst xmlns:a="http://schemas.openxmlformats.org/drawingml/2006/main">
              <a:ext uri="{FF2B5EF4-FFF2-40B4-BE49-F238E27FC236}">
                <a16:creationId xmlns:a16="http://schemas.microsoft.com/office/drawing/2014/main" id="{8643C9FA-53EC-4BAC-B3CC-7496DA4F21A7}"/>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Driver buys diesel</a:t>
            </a:r>
          </a:p>
        </p:txBody>
      </p:sp>
      <p:sp>
        <p:nvSpPr>
          <p:cNvPr id="7" name="">
            <a:extLst xmlns:a="http://schemas.openxmlformats.org/drawingml/2006/main">
              <a:ext uri="{FF2B5EF4-FFF2-40B4-BE49-F238E27FC236}">
                <a16:creationId xmlns:a16="http://schemas.microsoft.com/office/drawing/2014/main" id="{412B4381-C388-477D-B14D-C59F19DD79BC}"/>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C4E6A1C-0A3F-4DAF-AA1F-FE7F21A61A8A}"/>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server</a:t>
            </a:r>
          </a:p>
        </p:txBody>
      </p:sp>
      <p:sp>
        <p:nvSpPr>
          <p:cNvPr id="9" name="">
            <a:extLst xmlns:a="http://schemas.openxmlformats.org/drawingml/2006/main">
              <a:ext uri="{FF2B5EF4-FFF2-40B4-BE49-F238E27FC236}">
                <a16:creationId xmlns:a16="http://schemas.microsoft.com/office/drawing/2014/main" id="{09D13889-4254-4A40-B14B-4E27ABB048A7}"/>
              </a:ext>
            </a:extLst>
          </p:cNvPr>
          <p:cNvSpPr>
            <a:spLocks xmlns:a="http://schemas.openxmlformats.org/drawingml/2006/main" noGrp="1"/>
          </p:cNvSpPr>
          <p:nvPr/>
        </p:nvSpPr>
        <p:spPr>
          <a:xfrm xmlns:a="http://schemas.openxmlformats.org/drawingml/2006/main">
            <a:off x="4400550" y="48577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6B63"/>
                </a:solidFill>
                <a:latin typeface="Arial"/>
                <a:ea typeface="Arial"/>
                <a:cs typeface="Arial"/>
              </a:defRPr>
            </a:pPr>
            <a:r>
              <a:rPr sz="1950" b="0">
                <a:solidFill>
                  <a:srgbClr val="686B63"/>
                </a:solidFill>
                <a:latin typeface="Arial"/>
                <a:ea typeface="Arial"/>
                <a:cs typeface="Arial"/>
              </a:rPr>
              <a:t>App + rewards database</a:t>
            </a:r>
          </a:p>
        </p:txBody>
      </p:sp>
      <p:sp>
        <p:nvSpPr>
          <p:cNvPr id="10" name="">
            <a:extLst xmlns:a="http://schemas.openxmlformats.org/drawingml/2006/main">
              <a:ext uri="{FF2B5EF4-FFF2-40B4-BE49-F238E27FC236}">
                <a16:creationId xmlns:a16="http://schemas.microsoft.com/office/drawing/2014/main" id="{BD2A7EEA-5015-443D-BF5F-B2316759D0CE}"/>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20FB2C6-ECA4-4DAB-82F1-921D98879EF8}"/>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Airline miles</a:t>
            </a:r>
          </a:p>
        </p:txBody>
      </p:sp>
      <p:sp>
        <p:nvSpPr>
          <p:cNvPr id="12" name="">
            <a:extLst xmlns:a="http://schemas.openxmlformats.org/drawingml/2006/main">
              <a:ext uri="{FF2B5EF4-FFF2-40B4-BE49-F238E27FC236}">
                <a16:creationId xmlns:a16="http://schemas.microsoft.com/office/drawing/2014/main" id="{C7CC6715-6943-4E6A-A638-7509157197C1}"/>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Balance + flight booking</a:t>
            </a:r>
          </a:p>
        </p:txBody>
      </p:sp>
    </p:spTree>
    <p:extLst>
      <p:ext uri="{BB962C8B-B14F-4D97-AF65-F5344CB8AC3E}">
        <p14:creationId xmlns:p14="http://schemas.microsoft.com/office/powerpoint/2010/main" val="1594699648"/>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B245F9-96CC-4AD7-A5A8-86BACF0F723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2FB0D77E-D544-4F1F-B7A5-695A39E1B5A6}"/>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2F7BBEA0-A4B0-4EA5-BBE2-E2A34F60F9EF}"/>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56CE87E2-B6DD-4B66-A7C8-BEE455008B82}"/>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Hosting revenue: $0.  Miles revenue: all of it.</a:t>
            </a:r>
          </a:p>
        </p:txBody>
      </p:sp>
    </p:spTree>
    <p:extLst>
      <p:ext uri="{BB962C8B-B14F-4D97-AF65-F5344CB8AC3E}">
        <p14:creationId xmlns:p14="http://schemas.microsoft.com/office/powerpoint/2010/main" val="2082422097"/>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5FD2FB-4336-416C-8DE8-99E9D22BFCA3}"/>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38E0C00E-547E-4CD0-A0B7-134F39EF0CC1}"/>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D55BBA7A-E20E-4A3F-B1B9-14CC754336A2}"/>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74F36221-1E5A-44CA-AE8B-BAB41CA8B440}"/>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F9E16F5-DA7B-4226-917E-0F2C2296B52E}"/>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06B81DB6-FDDB-4A51-8F2F-E21786D56135}"/>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to bring drivers back to their locations.</a:t>
            </a:r>
          </a:p>
        </p:txBody>
      </p:sp>
      <p:sp>
        <p:nvSpPr>
          <p:cNvPr id="7" name="">
            <a:extLst xmlns:a="http://schemas.openxmlformats.org/drawingml/2006/main">
              <a:ext uri="{FF2B5EF4-FFF2-40B4-BE49-F238E27FC236}">
                <a16:creationId xmlns:a16="http://schemas.microsoft.com/office/drawing/2014/main" id="{514F7A7C-CC30-42D2-AB78-5C22F47BB619}"/>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AF35482-668C-4EE9-A3AE-E1F30CD8DE23}"/>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306D1DF8-290B-4C99-BA60-E18A28505F26}"/>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when they buy fuel and food.</a:t>
            </a:r>
          </a:p>
        </p:txBody>
      </p:sp>
      <p:sp>
        <p:nvSpPr>
          <p:cNvPr id="10" name="">
            <a:extLst xmlns:a="http://schemas.openxmlformats.org/drawingml/2006/main">
              <a:ext uri="{FF2B5EF4-FFF2-40B4-BE49-F238E27FC236}">
                <a16:creationId xmlns:a16="http://schemas.microsoft.com/office/drawing/2014/main" id="{9C3923A2-682E-4974-8094-423EBC20FB09}"/>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004F3E5-635C-4883-8F03-68B1C55E2989}"/>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15C7326F-C1CD-43C1-978D-B209384DA7E3}"/>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CCD7D041-A8A5-4751-9B1D-0D27A38B9B40}"/>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418A7A9-3272-4EF3-8C1C-74CFF3165098}"/>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E5596F32-DD1A-4C32-A559-28994FC9A9AC}"/>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2021050037"/>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C12C85-E35A-4E0B-BBC5-D32A728F4B58}"/>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B23C5F18-EAA2-4654-B2B7-5B8843CB56CB}"/>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F1EA"/>
                </a:solidFill>
                <a:latin typeface="Arial"/>
                <a:ea typeface="Arial"/>
                <a:cs typeface="Arial"/>
              </a:defRPr>
            </a:pPr>
            <a:r>
              <a:rPr sz="2100" b="1">
                <a:solidFill>
                  <a:srgbClr val="F4F1EA"/>
                </a:solidFill>
                <a:latin typeface="Arial"/>
                <a:ea typeface="Arial"/>
                <a:cs typeface="Arial"/>
              </a:rPr>
              <a:t>OUR RESPONSE TO AWS + REGULATORY RISK</a:t>
            </a:r>
          </a:p>
        </p:txBody>
      </p:sp>
      <p:sp>
        <p:nvSpPr>
          <p:cNvPr id="3" name="">
            <a:extLst xmlns:a="http://schemas.openxmlformats.org/drawingml/2006/main">
              <a:ext uri="{FF2B5EF4-FFF2-40B4-BE49-F238E27FC236}">
                <a16:creationId xmlns:a16="http://schemas.microsoft.com/office/drawing/2014/main" id="{8987357E-98C8-4717-BC84-479701C7529C}"/>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F5436999-1059-47E2-B5D7-CEBA83311D5D}"/>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hosting bill.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5f708d9ec8944dd"/>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21C3A9-E8DD-4832-9E05-22C26BB2063B}"/>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AWS asked us to pick a region. We picked orbit.</a:t>
            </a:r>
          </a:p>
        </p:txBody>
      </p:sp>
    </p:spTree>
    <p:extLst>
      <p:ext uri="{BB962C8B-B14F-4D97-AF65-F5344CB8AC3E}">
        <p14:creationId xmlns:p14="http://schemas.microsoft.com/office/powerpoint/2010/main" val="1289195408"/>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DB0EBD2-BF7E-4A0E-9790-244A5A861FDA}"/>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27D801FD-47E2-49E7-BDD7-A0405F4A7C22}"/>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 (PRE-INDICTMENT)</a:t>
            </a:r>
          </a:p>
        </p:txBody>
      </p:sp>
      <p:sp>
        <p:nvSpPr>
          <p:cNvPr id="3" name="">
            <a:extLst xmlns:a="http://schemas.openxmlformats.org/drawingml/2006/main">
              <a:ext uri="{FF2B5EF4-FFF2-40B4-BE49-F238E27FC236}">
                <a16:creationId xmlns:a16="http://schemas.microsoft.com/office/drawing/2014/main" id="{9717C9C5-4F5F-4031-B45A-870EEE97CEF0}"/>
              </a:ext>
            </a:extLst>
          </p:cNvPr>
          <p:cNvSpPr>
            <a:spLocks xmlns:a="http://schemas.openxmlformats.org/drawingml/2006/main" noGrp="1"/>
          </p:cNvSpPr>
          <p:nvPr/>
        </p:nvSpPr>
        <p:spPr>
          <a:xfrm xmlns:a="http://schemas.openxmlformats.org/drawingml/2006/main">
            <a:off x="647700" y="10382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30u30.</a:t>
            </a:r>
          </a:p>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emergency contact.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4b5fd33478d4573"/>
          <a:srcRect xmlns:a="http://schemas.openxmlformats.org/drawingml/2006/main" l="0" t="0" r="0" b="0"/>
          <a:stretch xmlns:a="http://schemas.openxmlformats.org/drawingml/2006/main">
            <a:fillRect l="0" t="0" r="0" b="0"/>
          </a:stretch>
        </p:blipFill>
        <p:spPr>
          <a:xfrm xmlns:a="http://schemas.openxmlformats.org/drawingml/2006/main">
            <a:off x="723900" y="2543175"/>
            <a:ext cx="2571750" cy="2571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5A0820-F55F-4EFE-9377-699BE588F72D}"/>
              </a:ext>
            </a:extLst>
          </p:cNvPr>
          <p:cNvSpPr>
            <a:spLocks xmlns:a="http://schemas.openxmlformats.org/drawingml/2006/main" noGrp="1"/>
          </p:cNvSpPr>
          <p:nvPr/>
        </p:nvSpPr>
        <p:spPr>
          <a:xfrm xmlns:a="http://schemas.openxmlformats.org/drawingml/2006/main">
            <a:off x="7239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6" name="">
            <a:extLst xmlns:a="http://schemas.openxmlformats.org/drawingml/2006/main">
              <a:ext uri="{FF2B5EF4-FFF2-40B4-BE49-F238E27FC236}">
                <a16:creationId xmlns:a16="http://schemas.microsoft.com/office/drawing/2014/main" id="{D87B29AB-5DC7-4284-9D9F-C7CCD398FB08}"/>
              </a:ext>
            </a:extLst>
          </p:cNvPr>
          <p:cNvSpPr>
            <a:spLocks xmlns:a="http://schemas.openxmlformats.org/drawingml/2006/main" noGrp="1"/>
          </p:cNvSpPr>
          <p:nvPr/>
        </p:nvSpPr>
        <p:spPr>
          <a:xfrm xmlns:a="http://schemas.openxmlformats.org/drawingml/2006/main">
            <a:off x="7239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7" name="">
            <a:extLst xmlns:a="http://schemas.openxmlformats.org/drawingml/2006/main">
              <a:ext uri="{FF2B5EF4-FFF2-40B4-BE49-F238E27FC236}">
                <a16:creationId xmlns:a16="http://schemas.microsoft.com/office/drawing/2014/main" id="{C7B3E10B-01A2-42B6-900B-00BE0ECE1BA6}"/>
              </a:ext>
            </a:extLst>
          </p:cNvPr>
          <p:cNvSpPr>
            <a:spLocks xmlns:a="http://schemas.openxmlformats.org/drawingml/2006/main" noGrp="1"/>
          </p:cNvSpPr>
          <p:nvPr/>
        </p:nvSpPr>
        <p:spPr>
          <a:xfrm xmlns:a="http://schemas.openxmlformats.org/drawingml/2006/main">
            <a:off x="7239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8" name="">
            <a:extLst xmlns:a="http://schemas.openxmlformats.org/drawingml/2006/main">
              <a:ext uri="{FF2B5EF4-FFF2-40B4-BE49-F238E27FC236}">
                <a16:creationId xmlns:a16="http://schemas.microsoft.com/office/drawing/2014/main" id="{9B087070-AD42-4974-874A-5A589AA65B7F}"/>
              </a:ext>
            </a:extLst>
          </p:cNvPr>
          <p:cNvSpPr>
            <a:spLocks xmlns:a="http://schemas.openxmlformats.org/drawingml/2006/main" noGrp="1"/>
          </p:cNvSpPr>
          <p:nvPr/>
        </p:nvSpPr>
        <p:spPr>
          <a:xfrm xmlns:a="http://schemas.openxmlformats.org/drawingml/2006/main">
            <a:off x="7239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miles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a35f08fc3f544f0"/>
          <a:srcRect xmlns:a="http://schemas.openxmlformats.org/drawingml/2006/main" l="0" t="0" r="0" b="0"/>
          <a:stretch xmlns:a="http://schemas.openxmlformats.org/drawingml/2006/main">
            <a:fillRect l="0" t="0" r="0" b="0"/>
          </a:stretch>
        </p:blipFill>
        <p:spPr>
          <a:xfrm xmlns:a="http://schemas.openxmlformats.org/drawingml/2006/main">
            <a:off x="4438650" y="2543175"/>
            <a:ext cx="2571750" cy="2571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B96D51B-273B-4B0E-8700-DD3A151405FD}"/>
              </a:ext>
            </a:extLst>
          </p:cNvPr>
          <p:cNvSpPr>
            <a:spLocks xmlns:a="http://schemas.openxmlformats.org/drawingml/2006/main" noGrp="1"/>
          </p:cNvSpPr>
          <p:nvPr/>
        </p:nvSpPr>
        <p:spPr>
          <a:xfrm xmlns:a="http://schemas.openxmlformats.org/drawingml/2006/main">
            <a:off x="443865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1" name="">
            <a:extLst xmlns:a="http://schemas.openxmlformats.org/drawingml/2006/main">
              <a:ext uri="{FF2B5EF4-FFF2-40B4-BE49-F238E27FC236}">
                <a16:creationId xmlns:a16="http://schemas.microsoft.com/office/drawing/2014/main" id="{A931B35B-BB15-45A1-AE5A-D7579ABB4156}"/>
              </a:ext>
            </a:extLst>
          </p:cNvPr>
          <p:cNvSpPr>
            <a:spLocks xmlns:a="http://schemas.openxmlformats.org/drawingml/2006/main" noGrp="1"/>
          </p:cNvSpPr>
          <p:nvPr/>
        </p:nvSpPr>
        <p:spPr>
          <a:xfrm xmlns:a="http://schemas.openxmlformats.org/drawingml/2006/main">
            <a:off x="443865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2" name="">
            <a:extLst xmlns:a="http://schemas.openxmlformats.org/drawingml/2006/main">
              <a:ext uri="{FF2B5EF4-FFF2-40B4-BE49-F238E27FC236}">
                <a16:creationId xmlns:a16="http://schemas.microsoft.com/office/drawing/2014/main" id="{B7D2C7DB-3803-4252-95AC-2BCE43EE34C7}"/>
              </a:ext>
            </a:extLst>
          </p:cNvPr>
          <p:cNvSpPr>
            <a:spLocks xmlns:a="http://schemas.openxmlformats.org/drawingml/2006/main" noGrp="1"/>
          </p:cNvSpPr>
          <p:nvPr/>
        </p:nvSpPr>
        <p:spPr>
          <a:xfrm xmlns:a="http://schemas.openxmlformats.org/drawingml/2006/main">
            <a:off x="443865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3" name="">
            <a:extLst xmlns:a="http://schemas.openxmlformats.org/drawingml/2006/main">
              <a:ext uri="{FF2B5EF4-FFF2-40B4-BE49-F238E27FC236}">
                <a16:creationId xmlns:a16="http://schemas.microsoft.com/office/drawing/2014/main" id="{92ECE648-0A1D-4851-B0D9-F5C836AA0313}"/>
              </a:ext>
            </a:extLst>
          </p:cNvPr>
          <p:cNvSpPr>
            <a:spLocks xmlns:a="http://schemas.openxmlformats.org/drawingml/2006/main" noGrp="1"/>
          </p:cNvSpPr>
          <p:nvPr/>
        </p:nvSpPr>
        <p:spPr>
          <a:xfrm xmlns:a="http://schemas.openxmlformats.org/drawingml/2006/main">
            <a:off x="443865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valuation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97acd7bf9914468"/>
          <a:srcRect xmlns:a="http://schemas.openxmlformats.org/drawingml/2006/main" l="0" t="0" r="0" b="0"/>
          <a:stretch xmlns:a="http://schemas.openxmlformats.org/drawingml/2006/main">
            <a:fillRect l="0" t="0" r="0" b="0"/>
          </a:stretch>
        </p:blipFill>
        <p:spPr>
          <a:xfrm xmlns:a="http://schemas.openxmlformats.org/drawingml/2006/main">
            <a:off x="8153400" y="2543175"/>
            <a:ext cx="2571750" cy="2571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06A795F-9AC2-4E7B-B46F-D10674C2CE96}"/>
              </a:ext>
            </a:extLst>
          </p:cNvPr>
          <p:cNvSpPr>
            <a:spLocks xmlns:a="http://schemas.openxmlformats.org/drawingml/2006/main" noGrp="1"/>
          </p:cNvSpPr>
          <p:nvPr/>
        </p:nvSpPr>
        <p:spPr>
          <a:xfrm xmlns:a="http://schemas.openxmlformats.org/drawingml/2006/main">
            <a:off x="81534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6" name="">
            <a:extLst xmlns:a="http://schemas.openxmlformats.org/drawingml/2006/main">
              <a:ext uri="{FF2B5EF4-FFF2-40B4-BE49-F238E27FC236}">
                <a16:creationId xmlns:a16="http://schemas.microsoft.com/office/drawing/2014/main" id="{F44AC20E-A054-48B4-8915-DC16489EB82E}"/>
              </a:ext>
            </a:extLst>
          </p:cNvPr>
          <p:cNvSpPr>
            <a:spLocks xmlns:a="http://schemas.openxmlformats.org/drawingml/2006/main" noGrp="1"/>
          </p:cNvSpPr>
          <p:nvPr/>
        </p:nvSpPr>
        <p:spPr>
          <a:xfrm xmlns:a="http://schemas.openxmlformats.org/drawingml/2006/main">
            <a:off x="81534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7" name="">
            <a:extLst xmlns:a="http://schemas.openxmlformats.org/drawingml/2006/main">
              <a:ext uri="{FF2B5EF4-FFF2-40B4-BE49-F238E27FC236}">
                <a16:creationId xmlns:a16="http://schemas.microsoft.com/office/drawing/2014/main" id="{53AF0955-AC93-4C83-99FE-68375246D42F}"/>
              </a:ext>
            </a:extLst>
          </p:cNvPr>
          <p:cNvSpPr>
            <a:spLocks xmlns:a="http://schemas.openxmlformats.org/drawingml/2006/main" noGrp="1"/>
          </p:cNvSpPr>
          <p:nvPr/>
        </p:nvSpPr>
        <p:spPr>
          <a:xfrm xmlns:a="http://schemas.openxmlformats.org/drawingml/2006/main">
            <a:off x="81534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Beat Starship at racing</a:t>
            </a:r>
          </a:p>
        </p:txBody>
      </p:sp>
      <p:sp>
        <p:nvSpPr>
          <p:cNvPr id="18" name="">
            <a:extLst xmlns:a="http://schemas.openxmlformats.org/drawingml/2006/main">
              <a:ext uri="{FF2B5EF4-FFF2-40B4-BE49-F238E27FC236}">
                <a16:creationId xmlns:a16="http://schemas.microsoft.com/office/drawing/2014/main" id="{BC271AD4-14AE-42C1-AF32-E42DDD9E3D80}"/>
              </a:ext>
            </a:extLst>
          </p:cNvPr>
          <p:cNvSpPr>
            <a:spLocks xmlns:a="http://schemas.openxmlformats.org/drawingml/2006/main" noGrp="1"/>
          </p:cNvSpPr>
          <p:nvPr/>
        </p:nvSpPr>
        <p:spPr>
          <a:xfrm xmlns:a="http://schemas.openxmlformats.org/drawingml/2006/main">
            <a:off x="81534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Emergency contact</a:t>
            </a:r>
          </a:p>
        </p:txBody>
      </p:sp>
    </p:spTree>
    <p:extLst>
      <p:ext uri="{BB962C8B-B14F-4D97-AF65-F5344CB8AC3E}">
        <p14:creationId xmlns:p14="http://schemas.microsoft.com/office/powerpoint/2010/main" val="752511024"/>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69A9E6-B367-49BB-9B51-5D43A7A3931E}"/>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D1CCD690-43AD-49DC-8B3E-9C95A8272060}"/>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35713E08-3E87-4E9A-A966-4ED4C78E4903}"/>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3E799272-9255-4448-ADF4-9582D93A4B7A}"/>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619F6AC1-8A23-4CD4-BC61-03FBFB8300B9}"/>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0b9d57a81944818"/>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F09390-4F9B-44AD-A42E-57F57AC854D9}"/>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974191795"/>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55B28D-5F70-4919-ADD2-CE9C838B7F37}"/>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C676854A-634D-48E8-9C26-C4E2955F8280}"/>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6B11CC95-1679-4491-A525-5B01EF21D4EB}"/>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65C53A34-FAF1-4EF1-BB14-20C7B2E687E6}"/>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1823386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2026-09-20T04:47:02.5260000Z</dcterms:created>
  <dcterms:modified xsi:type="dcterms:W3CDTF">2026-09-20T04:47:02.5260000Z</dcterms:modified>
</coreProperties>
</file>