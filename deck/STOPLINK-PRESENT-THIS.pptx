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11090d826b4b88" /><Relationship Type="http://schemas.openxmlformats.org/officeDocument/2006/relationships/extended-properties" Target="/docProps/app.xml" Id="Rf95944d36a2f47b3" /><Relationship Type="http://schemas.openxmlformats.org/officeDocument/2006/relationships/officeDocument" Target="/ppt/presentation.xml" Id="R7e2902c0de9b4c8c" /></Relationships>
</file>

<file path=ppt/presentation.xml><?xml version="1.0" encoding="utf-8"?>
<p:presentation xmlns:p="http://schemas.openxmlformats.org/presentationml/2006/main">
  <p:sldMasterIdLst>
    <p:sldMasterId xmlns:r="http://schemas.openxmlformats.org/officeDocument/2006/relationships" id="2147483648" r:id="R46ca8d1f36d046ff"/>
  </p:sldMasterIdLst>
  <p:notesMasterIdLst>
    <p:notesMasterId xmlns:r="http://schemas.openxmlformats.org/officeDocument/2006/relationships" r:id="R8a02ecca5705456e"/>
  </p:notesMasterIdLst>
  <p:sldIdLst>
    <p:sldId xmlns:r="http://schemas.openxmlformats.org/officeDocument/2006/relationships" id="256" r:id="Rc444ca921bc845de"/>
    <p:sldId xmlns:r="http://schemas.openxmlformats.org/officeDocument/2006/relationships" id="257" r:id="R7a922102595f4ca7"/>
    <p:sldId xmlns:r="http://schemas.openxmlformats.org/officeDocument/2006/relationships" id="258" r:id="Rd7c3d19ec8fa4a83"/>
    <p:sldId xmlns:r="http://schemas.openxmlformats.org/officeDocument/2006/relationships" id="259" r:id="R56eced994f424841"/>
    <p:sldId xmlns:r="http://schemas.openxmlformats.org/officeDocument/2006/relationships" id="260" r:id="R8f5a1da47f7f46df"/>
    <p:sldId xmlns:r="http://schemas.openxmlformats.org/officeDocument/2006/relationships" id="261" r:id="R452ac208a16043a8"/>
    <p:sldId xmlns:r="http://schemas.openxmlformats.org/officeDocument/2006/relationships" id="262" r:id="Rd87e7165e8e14095"/>
    <p:sldId xmlns:r="http://schemas.openxmlformats.org/officeDocument/2006/relationships" id="263" r:id="Re67d899fc99f4057"/>
    <p:sldId xmlns:r="http://schemas.openxmlformats.org/officeDocument/2006/relationships" id="264" r:id="R753d581540014e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e508dfa5b84d34" /><Relationship Type="http://schemas.openxmlformats.org/officeDocument/2006/relationships/slideMaster" Target="/ppt/slideMasters/slideMaster1.xml" Id="R46ca8d1f36d046ff" /><Relationship Type="http://schemas.openxmlformats.org/officeDocument/2006/relationships/notesMaster" Target="/ppt/notesMasters/notesMaster1.xml" Id="R8a02ecca5705456e" /><Relationship Type="http://schemas.openxmlformats.org/officeDocument/2006/relationships/presProps" Target="/ppt/presProps.xml" Id="Rae7fbdc329d04479" /><Relationship Type="http://schemas.openxmlformats.org/officeDocument/2006/relationships/tableStyles" Target="/ppt/tableStyles.xml" Id="R9151a21f8c4b405a" /><Relationship Type="http://schemas.openxmlformats.org/officeDocument/2006/relationships/slide" Target="/ppt/slides/slide1.xml" Id="Rc444ca921bc845de" /><Relationship Type="http://schemas.openxmlformats.org/officeDocument/2006/relationships/slide" Target="/ppt/slides/slide2.xml" Id="R7a922102595f4ca7" /><Relationship Type="http://schemas.openxmlformats.org/officeDocument/2006/relationships/slide" Target="/ppt/slides/slide3.xml" Id="Rd7c3d19ec8fa4a83" /><Relationship Type="http://schemas.openxmlformats.org/officeDocument/2006/relationships/slide" Target="/ppt/slides/slide4.xml" Id="R56eced994f424841" /><Relationship Type="http://schemas.openxmlformats.org/officeDocument/2006/relationships/slide" Target="/ppt/slides/slide5.xml" Id="R8f5a1da47f7f46df" /><Relationship Type="http://schemas.openxmlformats.org/officeDocument/2006/relationships/slide" Target="/ppt/slides/slide6.xml" Id="R452ac208a16043a8" /><Relationship Type="http://schemas.openxmlformats.org/officeDocument/2006/relationships/slide" Target="/ppt/slides/slide7.xml" Id="Rd87e7165e8e14095" /><Relationship Type="http://schemas.openxmlformats.org/officeDocument/2006/relationships/slide" Target="/ppt/slides/slide8.xml" Id="Re67d899fc99f4057" /><Relationship Type="http://schemas.openxmlformats.org/officeDocument/2006/relationships/slide" Target="/ppt/slides/slide9.xml" Id="R753d581540014e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e88c4125a94f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1dca60cf55421d" /><Relationship Type="http://schemas.openxmlformats.org/officeDocument/2006/relationships/notesMaster" Target="/ppt/notesMasters/notesMaster1.xml" Id="R138a156ecdd744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e5d7db28074baa" /><Relationship Type="http://schemas.openxmlformats.org/officeDocument/2006/relationships/notesMaster" Target="/ppt/notesMasters/notesMaster1.xml" Id="R198da9ac477d4d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27283848ef6492b" /><Relationship Type="http://schemas.openxmlformats.org/officeDocument/2006/relationships/notesMaster" Target="/ppt/notesMasters/notesMaster1.xml" Id="R5454ba0650204d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daa6ae81e14601" /><Relationship Type="http://schemas.openxmlformats.org/officeDocument/2006/relationships/notesMaster" Target="/ppt/notesMasters/notesMaster1.xml" Id="R86dbe8163bd14f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81c35c62eb41c7" /><Relationship Type="http://schemas.openxmlformats.org/officeDocument/2006/relationships/notesMaster" Target="/ppt/notesMasters/notesMaster1.xml" Id="Rf6ed3726d32749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e232b95a21416a" /><Relationship Type="http://schemas.openxmlformats.org/officeDocument/2006/relationships/notesMaster" Target="/ppt/notesMasters/notesMaster1.xml" Id="R832a5469230b4f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dc024b320e4a0d" /><Relationship Type="http://schemas.openxmlformats.org/officeDocument/2006/relationships/notesMaster" Target="/ppt/notesMasters/notesMaster1.xml" Id="R01ecac99d1934d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4a5e84193a3543dd" /><Relationship Type="http://schemas.openxmlformats.org/officeDocument/2006/relationships/notesMaster" Target="/ppt/notesMasters/notesMaster1.xml" Id="Rca1d4640652042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1b6958a4904455" /><Relationship Type="http://schemas.openxmlformats.org/officeDocument/2006/relationships/notesMaster" Target="/ppt/notesMasters/notesMaster1.xml" Id="R4c1b0c040aff4c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America runs on the interstate. We are building the infrastructure above it. STOPLINK is orbital compute for the American truck-stop economy. Our orbital GPU clusters deliver AI dispatch, route optimization, and predictive maintenance to fleets at truck stops. We put the data center in orbit and the customer terminal beside the diesel pump. Deliver straight, with no wink.</a:t>
            </a:r>
          </a:p>
          <a:p xmlns:a="http://schemas.openxmlformats.org/drawingml/2006/main">
            <a:r>
              <a:t>Source note: YC affiliation is fictional retreat-pitch parody. YC mark from https://www.ycombinator.com/press.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We sell airline miles to truck stops. The truck stops buy our miles to reward diesel purchases and keep drivers coming back. Drivers redeem those miles for flights on existing airlines. To win the contract, we bundle free AI from our orbital data centers. PATRICK: People who drive for a living earn enough points to finally stop fucking driving.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Truck-stop terminals uplink fleet data to GPU data centers in orbit. Those GPUs run routing and maintenance models, then send predictions back to the terminal. That is the actual product we claim to build. Solar-powered orbital compute for the interstate. We went where the power is: straight up. We have taken an ordinary transaction and made it dependent on a rocket launch. Do not claim free power, easy cooling, or proven engineering. This is the fictional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Here is the revenue model. We sell miles. Every compute contract includes an airline loyalty program. Truck stops buy miles from us. Drivers earn them on fuel and fleets earn them on compute. We give away the compute; the miles are the entire revenue model. Airlines already sell miles to commercial partners. We kept that business and deleted the airline. Drivers earn STOPLINK miles at truck stops and use them to book flights on existing airlines. We do not operate aircraft. PATRICK: The first airline with no airplanes. Our fleet has never been late. Our fleet is a font.</a:t>
            </a:r>
          </a:p>
          <a:p xmlns:a="http://schemas.openxmlformats.org/drawingml/2006/main">
            <a:r>
              <a:t>Research: United 2025 Form 10-K confirms mileage revenue from non-airline partners and its co-brand agreement. It does NOT establish the claim that United makes more money selling miles than flying planes, or that all loyalty programs are worth more than their airlines. Those unsupported comparisons have been removed. https://www.sec.gov/Archives/edgar/data/100517/000010051726000023/ual-20251231.htm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A truck stop signs an orbital compute contract, but its bill is for a recurring purchase of miles. Drivers earn miles on fuel; fleets earn miles using the compute. A co-branded card could extend this to other spending. When the driver redeems, we pay for a flight on an existing airline. We keep the spread after reward costs and operating costs. A co-branded card can add partner revenue later. No bank or airline partnership is signed in this fictional pitch. PATRICK: People who drive for a living earn enough points to finally stop fucking driving. Reward costs are real; we do not assume nobody redeems.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Why put the data centers in orbit? Solar-powered GPUs are the product story. The free compute gets truck stops to sign the miles contract. PATRICK: The data center is a six-hundred-million-dollar signup bonus. PARKER: Does that make economic sense? PATRICK: Our unit economics exclude everything in space. NADAV: Sean and Hugo call that a seed round. PATRICK: We call it customer acquisition. The six hundred million is a fictional joke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PATRICK: Nadav and Parker made Forbes 30 Under 30. I brought the helmet. Statistically, we are a complete founding team. I beat the Starship guys at racing. So I have already delivered a loss to Starship. This time I am asking them to invest in it. NADAV: Will handles technical diligence. PATRICK: Specifically, his headshot.</a:t>
            </a:r>
          </a:p>
          <a:p xmlns:a="http://schemas.openxmlformats.org/drawingml/2006/main">
            <a:r>
              <a:t>Photo identities and Forbes credentials supplied by Patrick. Racing result supplied by Patrick. Roles, getaway-driver reference, advisor role and YC affiliation are fictional retreat jokes.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Will spent twelve years at SpaceX. PATRICK: We spent twelve minutes with his headshot. Due diligence complete. Pause.</a:t>
            </a:r>
          </a:p>
          <a:p xmlns:a="http://schemas.openxmlformats.org/drawingml/2006/main">
            <a:r>
              <a:t>Will photo supplied by Patrick. Twelve years at SpaceX verified at https://www.starship.vc/team. STOPLINK advisory role is fictional retreat comedy.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Orbital data centers run the AI. Truck stops distribute it. The airline loyalty program makes all the money. We have vertically integrated a rocket launch into a credit-card offer. NADAV: We are accepting investment in dollars. PATRICK: Returns are in miles. Subject to availability. Stop.</a:t>
            </a:r>
          </a:p>
          <a:p xmlns:a="http://schemas.openxmlformats.org/drawingml/2006/main">
            <a:r>
              <a:t>Optional Israel/politics line only if desired and time permits, spoken by Nadav before the ask: I handle government relations. If the UN condemns us, the deck will say internationally recognized. This is fictional political satire.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57288596b14e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91530e429b4598" /><Relationship Type="http://schemas.openxmlformats.org/officeDocument/2006/relationships/slideLayout" Target="/ppt/slideLayouts/slideLayout1.xml" Id="R467fabf53c4442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7fabf53c4442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ea5f5313c954608" /><Relationship Type="http://schemas.openxmlformats.org/officeDocument/2006/relationships/image" Target="/ppt/media/image.png" Id="R42337f1e92c64a73" /><Relationship Type="http://schemas.openxmlformats.org/officeDocument/2006/relationships/notesSlide" Target="/ppt/notesSlides/notesSlide1.xml" Id="R98c7dff9a31242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df535459f054f1d" /><Relationship Type="http://schemas.openxmlformats.org/officeDocument/2006/relationships/notesSlide" Target="/ppt/notesSlides/notesSlide2.xml" Id="Rbba7fd46a0d946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4b4f2eee8e54116" /><Relationship Type="http://schemas.openxmlformats.org/officeDocument/2006/relationships/notesSlide" Target="/ppt/notesSlides/notesSlide3.xml" Id="R1d9b8c8a4fd24a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f9f7cc38fe6461d" /><Relationship Type="http://schemas.openxmlformats.org/officeDocument/2006/relationships/notesSlide" Target="/ppt/notesSlides/notesSlide4.xml" Id="Re463ad15077f40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d3d03f03fe34f25" /><Relationship Type="http://schemas.openxmlformats.org/officeDocument/2006/relationships/notesSlide" Target="/ppt/notesSlides/notesSlide5.xml" Id="R3cfcf70a3ac64e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0a445f98f45476e" /><Relationship Type="http://schemas.openxmlformats.org/officeDocument/2006/relationships/image" Target="/ppt/media/image.jpeg" Id="R7b1afebbef7b4ead" /><Relationship Type="http://schemas.openxmlformats.org/officeDocument/2006/relationships/notesSlide" Target="/ppt/notesSlides/notesSlide6.xml" Id="Rc014ad09d20b47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9088b47d3b94295" /><Relationship Type="http://schemas.openxmlformats.org/officeDocument/2006/relationships/image" Target="/ppt/media/image2.jpeg" Id="Re23214ac2019402a" /><Relationship Type="http://schemas.openxmlformats.org/officeDocument/2006/relationships/image" Target="/ppt/media/image2.png" Id="Re96a404f050849f2" /><Relationship Type="http://schemas.openxmlformats.org/officeDocument/2006/relationships/image" Target="/ppt/media/image3.png" Id="R760a7ea7d6e54f09" /><Relationship Type="http://schemas.openxmlformats.org/officeDocument/2006/relationships/notesSlide" Target="/ppt/notesSlides/notesSlide7.xml" Id="Rf229de4734aa44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7b52c5c66cd4044" /><Relationship Type="http://schemas.openxmlformats.org/officeDocument/2006/relationships/image" Target="/ppt/media/image4.png" Id="Racbe576506004f93" /><Relationship Type="http://schemas.openxmlformats.org/officeDocument/2006/relationships/notesSlide" Target="/ppt/notesSlides/notesSlide8.xml" Id="R6bf3c669b5664f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9bb1470bd8b4ff5" /><Relationship Type="http://schemas.openxmlformats.org/officeDocument/2006/relationships/notesSlide" Target="/ppt/notesSlides/notesSlide9.xml" Id="R633b74ca0bb54a60" /></Relationships>
</file>

<file path=ppt/slides/slide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4F5CF20-223C-49A4-8FFE-84EB13C07CF1}"/>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2337f1e92c64a73"/>
          <a:stretch xmlns:a="http://schemas.openxmlformats.org/drawingml/2006/main"/>
        </p:blipFill>
        <p:spPr>
          <a:xfrm xmlns:a="http://schemas.openxmlformats.org/drawingml/2006/main">
            <a:off x="571500" y="619125"/>
            <a:ext cx="4905375" cy="16351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1174325-7B31-446E-B8F9-BDD9B0E602EA}"/>
              </a:ext>
            </a:extLst>
          </p:cNvPr>
          <p:cNvSpPr>
            <a:spLocks xmlns:a="http://schemas.openxmlformats.org/drawingml/2006/main" noGrp="1"/>
          </p:cNvSpPr>
          <p:nvPr/>
        </p:nvSpPr>
        <p:spPr>
          <a:xfrm xmlns:a="http://schemas.openxmlformats.org/drawingml/2006/main">
            <a:off x="609600" y="2619375"/>
            <a:ext cx="109061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71914"/>
                </a:solidFill>
                <a:latin typeface="Arial"/>
                <a:ea typeface="Arial"/>
                <a:cs typeface="Arial"/>
              </a:defRPr>
            </a:pPr>
            <a:r>
              <a:rPr sz="5400" b="1">
                <a:solidFill>
                  <a:srgbClr val="171914"/>
                </a:solidFill>
                <a:latin typeface="Arial"/>
                <a:ea typeface="Arial"/>
                <a:cs typeface="Arial"/>
              </a:rPr>
              <a:t>Orbital data centers.</a:t>
            </a:r>
          </a:p>
          <a:p xmlns:a="http://schemas.openxmlformats.org/drawingml/2006/main">
            <a:pPr>
              <a:defRPr sz="5400" b="1">
                <a:solidFill>
                  <a:srgbClr val="171914"/>
                </a:solidFill>
                <a:latin typeface="Arial"/>
                <a:ea typeface="Arial"/>
                <a:cs typeface="Arial"/>
              </a:defRPr>
            </a:pPr>
            <a:r>
              <a:rPr sz="5400" b="1">
                <a:solidFill>
                  <a:srgbClr val="171914"/>
                </a:solidFill>
                <a:latin typeface="Arial"/>
                <a:ea typeface="Arial"/>
                <a:cs typeface="Arial"/>
              </a:rPr>
              <a:t>For truck stops.</a:t>
            </a:r>
          </a:p>
        </p:txBody>
      </p:sp>
      <p:sp>
        <p:nvSpPr>
          <p:cNvPr id="4" name="">
            <a:extLst xmlns:a="http://schemas.openxmlformats.org/drawingml/2006/main">
              <a:ext uri="{FF2B5EF4-FFF2-40B4-BE49-F238E27FC236}">
                <a16:creationId xmlns:a16="http://schemas.microsoft.com/office/drawing/2014/main" id="{26FBE6E8-60E1-4755-9C56-789772C2AA27}"/>
              </a:ext>
            </a:extLst>
          </p:cNvPr>
          <p:cNvSpPr>
            <a:spLocks xmlns:a="http://schemas.openxmlformats.org/drawingml/2006/main" noGrp="1"/>
          </p:cNvSpPr>
          <p:nvPr/>
        </p:nvSpPr>
        <p:spPr>
          <a:xfrm xmlns:a="http://schemas.openxmlformats.org/drawingml/2006/main">
            <a:off x="685800" y="5400675"/>
            <a:ext cx="552450" cy="552450"/>
          </a:xfrm>
          <a:prstGeom xmlns:a="http://schemas.openxmlformats.org/drawingml/2006/main" prst="rect">
            <a:avLst/>
          </a:prstGeom>
          <a:solidFill xmlns:a="http://schemas.openxmlformats.org/drawingml/2006/main">
            <a:srgbClr val="FF64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2EEE631-01F8-4DBB-B7B6-72FD50BCF1E0}"/>
              </a:ext>
            </a:extLst>
          </p:cNvPr>
          <p:cNvSpPr>
            <a:spLocks xmlns:a="http://schemas.openxmlformats.org/drawingml/2006/main" noGrp="1"/>
          </p:cNvSpPr>
          <p:nvPr/>
        </p:nvSpPr>
        <p:spPr>
          <a:xfrm xmlns:a="http://schemas.openxmlformats.org/drawingml/2006/main">
            <a:off x="809625" y="5438775"/>
            <a:ext cx="438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Y</a:t>
            </a:r>
          </a:p>
        </p:txBody>
      </p:sp>
      <p:sp>
        <p:nvSpPr>
          <p:cNvPr id="6" name="">
            <a:extLst xmlns:a="http://schemas.openxmlformats.org/drawingml/2006/main">
              <a:ext uri="{FF2B5EF4-FFF2-40B4-BE49-F238E27FC236}">
                <a16:creationId xmlns:a16="http://schemas.microsoft.com/office/drawing/2014/main" id="{5DA93361-D53D-4DE0-BA24-3DB53CBF581A}"/>
              </a:ext>
            </a:extLst>
          </p:cNvPr>
          <p:cNvSpPr>
            <a:spLocks xmlns:a="http://schemas.openxmlformats.org/drawingml/2006/main" noGrp="1"/>
          </p:cNvSpPr>
          <p:nvPr/>
        </p:nvSpPr>
        <p:spPr>
          <a:xfrm xmlns:a="http://schemas.openxmlformats.org/drawingml/2006/main">
            <a:off x="1409700" y="5467350"/>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SUMMER ’26  /  DECK 1</a:t>
            </a:r>
          </a:p>
        </p:txBody>
      </p:sp>
    </p:spTree>
    <p:extLst>
      <p:ext uri="{BB962C8B-B14F-4D97-AF65-F5344CB8AC3E}">
        <p14:creationId xmlns:p14="http://schemas.microsoft.com/office/powerpoint/2010/main" val="320676605"/>
      </p:ext>
    </p:extLst>
  </p:cSld>
</p:sld>
</file>

<file path=ppt/slides/slide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0AC045-D2C6-48C1-BAAD-02799BC9C846}"/>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16A0549A-66DA-4BD4-A6D4-D1CA4306C598}"/>
              </a:ext>
            </a:extLst>
          </p:cNvPr>
          <p:cNvSpPr>
            <a:spLocks xmlns:a="http://schemas.openxmlformats.org/drawingml/2006/main" noGrp="1"/>
          </p:cNvSpPr>
          <p:nvPr/>
        </p:nvSpPr>
        <p:spPr>
          <a:xfrm xmlns:a="http://schemas.openxmlformats.org/drawingml/2006/main">
            <a:off x="666750" y="523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WHAT WE DO</a:t>
            </a:r>
          </a:p>
        </p:txBody>
      </p:sp>
      <p:sp>
        <p:nvSpPr>
          <p:cNvPr id="3" name="">
            <a:extLst xmlns:a="http://schemas.openxmlformats.org/drawingml/2006/main">
              <a:ext uri="{FF2B5EF4-FFF2-40B4-BE49-F238E27FC236}">
                <a16:creationId xmlns:a16="http://schemas.microsoft.com/office/drawing/2014/main" id="{20E0E507-63C7-4158-83EE-BB1CFFA0BCDC}"/>
              </a:ext>
            </a:extLst>
          </p:cNvPr>
          <p:cNvSpPr>
            <a:spLocks xmlns:a="http://schemas.openxmlformats.org/drawingml/2006/main" noGrp="1"/>
          </p:cNvSpPr>
          <p:nvPr/>
        </p:nvSpPr>
        <p:spPr>
          <a:xfrm xmlns:a="http://schemas.openxmlformats.org/drawingml/2006/main">
            <a:off x="647700" y="1200150"/>
            <a:ext cx="10763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71914"/>
                </a:solidFill>
                <a:latin typeface="Arial"/>
                <a:ea typeface="Arial"/>
                <a:cs typeface="Arial"/>
              </a:defRPr>
            </a:pPr>
            <a:r>
              <a:rPr sz="5100" b="1">
                <a:solidFill>
                  <a:srgbClr val="171914"/>
                </a:solidFill>
                <a:latin typeface="Arial"/>
                <a:ea typeface="Arial"/>
                <a:cs typeface="Arial"/>
              </a:rPr>
              <a:t>We sell airline miles</a:t>
            </a:r>
          </a:p>
          <a:p xmlns:a="http://schemas.openxmlformats.org/drawingml/2006/main">
            <a:pPr>
              <a:defRPr sz="5100" b="1">
                <a:solidFill>
                  <a:srgbClr val="171914"/>
                </a:solidFill>
                <a:latin typeface="Arial"/>
                <a:ea typeface="Arial"/>
                <a:cs typeface="Arial"/>
              </a:defRPr>
            </a:pPr>
            <a:r>
              <a:rPr sz="5100" b="1">
                <a:solidFill>
                  <a:srgbClr val="171914"/>
                </a:solidFill>
                <a:latin typeface="Arial"/>
                <a:ea typeface="Arial"/>
                <a:cs typeface="Arial"/>
              </a:rPr>
              <a:t>to truck stops.</a:t>
            </a:r>
          </a:p>
        </p:txBody>
      </p:sp>
      <p:sp>
        <p:nvSpPr>
          <p:cNvPr id="4" name="">
            <a:extLst xmlns:a="http://schemas.openxmlformats.org/drawingml/2006/main">
              <a:ext uri="{FF2B5EF4-FFF2-40B4-BE49-F238E27FC236}">
                <a16:creationId xmlns:a16="http://schemas.microsoft.com/office/drawing/2014/main" id="{816C706E-7A13-4CE1-A9B9-5E88FBECD8D9}"/>
              </a:ext>
            </a:extLst>
          </p:cNvPr>
          <p:cNvSpPr>
            <a:spLocks xmlns:a="http://schemas.openxmlformats.org/drawingml/2006/main" noGrp="1"/>
          </p:cNvSpPr>
          <p:nvPr/>
        </p:nvSpPr>
        <p:spPr>
          <a:xfrm xmlns:a="http://schemas.openxmlformats.org/drawingml/2006/main">
            <a:off x="723900" y="3286125"/>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1914"/>
                </a:solidFill>
                <a:latin typeface="Arial"/>
                <a:ea typeface="Arial"/>
                <a:cs typeface="Arial"/>
              </a:defRPr>
            </a:pPr>
            <a:r>
              <a:rPr sz="2550" b="0">
                <a:solidFill>
                  <a:srgbClr val="171914"/>
                </a:solidFill>
                <a:latin typeface="Arial"/>
                <a:ea typeface="Arial"/>
                <a:cs typeface="Arial"/>
              </a:rPr>
              <a:t>Truck stops buy miles to reward diesel purchases.</a:t>
            </a:r>
          </a:p>
        </p:txBody>
      </p:sp>
      <p:sp>
        <p:nvSpPr>
          <p:cNvPr id="5" name="">
            <a:extLst xmlns:a="http://schemas.openxmlformats.org/drawingml/2006/main">
              <a:ext uri="{FF2B5EF4-FFF2-40B4-BE49-F238E27FC236}">
                <a16:creationId xmlns:a16="http://schemas.microsoft.com/office/drawing/2014/main" id="{80112951-D33A-4040-AB93-55055BAC7323}"/>
              </a:ext>
            </a:extLst>
          </p:cNvPr>
          <p:cNvSpPr>
            <a:spLocks xmlns:a="http://schemas.openxmlformats.org/drawingml/2006/main" noGrp="1"/>
          </p:cNvSpPr>
          <p:nvPr/>
        </p:nvSpPr>
        <p:spPr>
          <a:xfrm xmlns:a="http://schemas.openxmlformats.org/drawingml/2006/main">
            <a:off x="723900" y="400050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1914"/>
                </a:solidFill>
                <a:latin typeface="Arial"/>
                <a:ea typeface="Arial"/>
                <a:cs typeface="Arial"/>
              </a:defRPr>
            </a:pPr>
            <a:r>
              <a:rPr sz="2550" b="0">
                <a:solidFill>
                  <a:srgbClr val="171914"/>
                </a:solidFill>
                <a:latin typeface="Arial"/>
                <a:ea typeface="Arial"/>
                <a:cs typeface="Arial"/>
              </a:rPr>
              <a:t>Drivers redeem them for flights on existing airlines.</a:t>
            </a:r>
          </a:p>
        </p:txBody>
      </p:sp>
      <p:sp>
        <p:nvSpPr>
          <p:cNvPr id="6" name="">
            <a:extLst xmlns:a="http://schemas.openxmlformats.org/drawingml/2006/main">
              <a:ext uri="{FF2B5EF4-FFF2-40B4-BE49-F238E27FC236}">
                <a16:creationId xmlns:a16="http://schemas.microsoft.com/office/drawing/2014/main" id="{6FA0C03F-CEBF-4C4A-8083-EDF711F7C0B2}"/>
              </a:ext>
            </a:extLst>
          </p:cNvPr>
          <p:cNvSpPr>
            <a:spLocks xmlns:a="http://schemas.openxmlformats.org/drawingml/2006/main" noGrp="1"/>
          </p:cNvSpPr>
          <p:nvPr/>
        </p:nvSpPr>
        <p:spPr>
          <a:xfrm xmlns:a="http://schemas.openxmlformats.org/drawingml/2006/main">
            <a:off x="723900" y="5248275"/>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F6400"/>
                </a:solidFill>
                <a:latin typeface="Arial"/>
                <a:ea typeface="Arial"/>
                <a:cs typeface="Arial"/>
              </a:defRPr>
            </a:pPr>
            <a:r>
              <a:rPr sz="3375" b="1">
                <a:solidFill>
                  <a:srgbClr val="FF6400"/>
                </a:solidFill>
                <a:latin typeface="Arial"/>
                <a:ea typeface="Arial"/>
                <a:cs typeface="Arial"/>
              </a:rPr>
              <a:t>Free orbital AI is the signup bonus.</a:t>
            </a:r>
          </a:p>
        </p:txBody>
      </p:sp>
    </p:spTree>
    <p:extLst>
      <p:ext uri="{BB962C8B-B14F-4D97-AF65-F5344CB8AC3E}">
        <p14:creationId xmlns:p14="http://schemas.microsoft.com/office/powerpoint/2010/main" val="1596715123"/>
      </p:ext>
    </p:extLst>
  </p:cSld>
</p:sld>
</file>

<file path=ppt/slides/slide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B95BCD3-07A7-4C44-8483-8BED62CC9196}"/>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66CDE39B-DCD4-4561-BA91-789FE7ACE03E}"/>
              </a:ext>
            </a:extLst>
          </p:cNvPr>
          <p:cNvSpPr>
            <a:spLocks xmlns:a="http://schemas.openxmlformats.org/drawingml/2006/main" noGrp="1"/>
          </p:cNvSpPr>
          <p:nvPr/>
        </p:nvSpPr>
        <p:spPr>
          <a:xfrm xmlns:a="http://schemas.openxmlformats.org/drawingml/2006/main">
            <a:off x="666750" y="5238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THE ORBITAL LAYER</a:t>
            </a:r>
          </a:p>
        </p:txBody>
      </p:sp>
      <p:sp>
        <p:nvSpPr>
          <p:cNvPr id="3" name="">
            <a:extLst xmlns:a="http://schemas.openxmlformats.org/drawingml/2006/main">
              <a:ext uri="{FF2B5EF4-FFF2-40B4-BE49-F238E27FC236}">
                <a16:creationId xmlns:a16="http://schemas.microsoft.com/office/drawing/2014/main" id="{B65E37D9-81F2-43A9-B6C8-F552D4F5EB6D}"/>
              </a:ext>
            </a:extLst>
          </p:cNvPr>
          <p:cNvSpPr>
            <a:spLocks xmlns:a="http://schemas.openxmlformats.org/drawingml/2006/main" noGrp="1"/>
          </p:cNvSpPr>
          <p:nvPr/>
        </p:nvSpPr>
        <p:spPr>
          <a:xfrm xmlns:a="http://schemas.openxmlformats.org/drawingml/2006/main">
            <a:off x="647700" y="1333500"/>
            <a:ext cx="10763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171914"/>
                </a:solidFill>
                <a:latin typeface="Arial"/>
                <a:ea typeface="Arial"/>
                <a:cs typeface="Arial"/>
              </a:defRPr>
            </a:pPr>
            <a:r>
              <a:rPr sz="4875" b="1">
                <a:solidFill>
                  <a:srgbClr val="171914"/>
                </a:solidFill>
                <a:latin typeface="Arial"/>
                <a:ea typeface="Arial"/>
                <a:cs typeface="Arial"/>
              </a:rPr>
              <a:t>We went where the power is.</a:t>
            </a:r>
          </a:p>
          <a:p xmlns:a="http://schemas.openxmlformats.org/drawingml/2006/main">
            <a:pPr>
              <a:defRPr sz="4875" b="1">
                <a:solidFill>
                  <a:srgbClr val="171914"/>
                </a:solidFill>
                <a:latin typeface="Arial"/>
                <a:ea typeface="Arial"/>
                <a:cs typeface="Arial"/>
              </a:defRPr>
            </a:pPr>
            <a:r>
              <a:rPr sz="4875" b="1">
                <a:solidFill>
                  <a:srgbClr val="171914"/>
                </a:solidFill>
                <a:latin typeface="Arial"/>
                <a:ea typeface="Arial"/>
                <a:cs typeface="Arial"/>
              </a:rPr>
              <a:t>Straight up.</a:t>
            </a:r>
          </a:p>
        </p:txBody>
      </p:sp>
      <p:sp>
        <p:nvSpPr>
          <p:cNvPr id="4" name="">
            <a:extLst xmlns:a="http://schemas.openxmlformats.org/drawingml/2006/main">
              <a:ext uri="{FF2B5EF4-FFF2-40B4-BE49-F238E27FC236}">
                <a16:creationId xmlns:a16="http://schemas.microsoft.com/office/drawing/2014/main" id="{4800A0B9-544A-4BB1-955C-F6211A4B7F99}"/>
              </a:ext>
            </a:extLst>
          </p:cNvPr>
          <p:cNvSpPr>
            <a:spLocks xmlns:a="http://schemas.openxmlformats.org/drawingml/2006/main" noGrp="1"/>
          </p:cNvSpPr>
          <p:nvPr/>
        </p:nvSpPr>
        <p:spPr>
          <a:xfrm xmlns:a="http://schemas.openxmlformats.org/drawingml/2006/main">
            <a:off x="68580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2F16D63-CACC-4F27-ABF0-F12E3CF76752}"/>
              </a:ext>
            </a:extLst>
          </p:cNvPr>
          <p:cNvSpPr>
            <a:spLocks xmlns:a="http://schemas.openxmlformats.org/drawingml/2006/main" noGrp="1"/>
          </p:cNvSpPr>
          <p:nvPr/>
        </p:nvSpPr>
        <p:spPr>
          <a:xfrm xmlns:a="http://schemas.openxmlformats.org/drawingml/2006/main">
            <a:off x="685800" y="41338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1914"/>
                </a:solidFill>
                <a:latin typeface="Arial"/>
                <a:ea typeface="Arial"/>
                <a:cs typeface="Arial"/>
              </a:defRPr>
            </a:pPr>
            <a:r>
              <a:rPr sz="2700" b="1">
                <a:solidFill>
                  <a:srgbClr val="171914"/>
                </a:solidFill>
                <a:latin typeface="Arial"/>
                <a:ea typeface="Arial"/>
                <a:cs typeface="Arial"/>
              </a:rPr>
              <a:t>Truck terminals</a:t>
            </a:r>
          </a:p>
        </p:txBody>
      </p:sp>
      <p:sp>
        <p:nvSpPr>
          <p:cNvPr id="6" name="">
            <a:extLst xmlns:a="http://schemas.openxmlformats.org/drawingml/2006/main">
              <a:ext uri="{FF2B5EF4-FFF2-40B4-BE49-F238E27FC236}">
                <a16:creationId xmlns:a16="http://schemas.microsoft.com/office/drawing/2014/main" id="{A0F48F69-9CF2-4CBF-BDB3-1EBE61FFEC84}"/>
              </a:ext>
            </a:extLst>
          </p:cNvPr>
          <p:cNvSpPr>
            <a:spLocks xmlns:a="http://schemas.openxmlformats.org/drawingml/2006/main" noGrp="1"/>
          </p:cNvSpPr>
          <p:nvPr/>
        </p:nvSpPr>
        <p:spPr>
          <a:xfrm xmlns:a="http://schemas.openxmlformats.org/drawingml/2006/main">
            <a:off x="685800" y="485775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86B63"/>
                </a:solidFill>
                <a:latin typeface="Arial"/>
                <a:ea typeface="Arial"/>
                <a:cs typeface="Arial"/>
              </a:defRPr>
            </a:pPr>
            <a:r>
              <a:rPr sz="2025" b="0">
                <a:solidFill>
                  <a:srgbClr val="686B63"/>
                </a:solidFill>
                <a:latin typeface="Arial"/>
                <a:ea typeface="Arial"/>
                <a:cs typeface="Arial"/>
              </a:rPr>
              <a:t>Upload fleet data</a:t>
            </a:r>
          </a:p>
        </p:txBody>
      </p:sp>
      <p:sp>
        <p:nvSpPr>
          <p:cNvPr id="7" name="">
            <a:extLst xmlns:a="http://schemas.openxmlformats.org/drawingml/2006/main">
              <a:ext uri="{FF2B5EF4-FFF2-40B4-BE49-F238E27FC236}">
                <a16:creationId xmlns:a16="http://schemas.microsoft.com/office/drawing/2014/main" id="{8DFDB243-F65A-44BB-9DC1-B63F5F1C32DE}"/>
              </a:ext>
            </a:extLst>
          </p:cNvPr>
          <p:cNvSpPr>
            <a:spLocks xmlns:a="http://schemas.openxmlformats.org/drawingml/2006/main" noGrp="1"/>
          </p:cNvSpPr>
          <p:nvPr/>
        </p:nvSpPr>
        <p:spPr>
          <a:xfrm xmlns:a="http://schemas.openxmlformats.org/drawingml/2006/main">
            <a:off x="440055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4843A510-795D-45A5-A515-6E6432160B22}"/>
              </a:ext>
            </a:extLst>
          </p:cNvPr>
          <p:cNvSpPr>
            <a:spLocks xmlns:a="http://schemas.openxmlformats.org/drawingml/2006/main" noGrp="1"/>
          </p:cNvSpPr>
          <p:nvPr/>
        </p:nvSpPr>
        <p:spPr>
          <a:xfrm xmlns:a="http://schemas.openxmlformats.org/drawingml/2006/main">
            <a:off x="4400550" y="413385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1914"/>
                </a:solidFill>
                <a:latin typeface="Arial"/>
                <a:ea typeface="Arial"/>
                <a:cs typeface="Arial"/>
              </a:defRPr>
            </a:pPr>
            <a:r>
              <a:rPr sz="2850" b="1">
                <a:solidFill>
                  <a:srgbClr val="171914"/>
                </a:solidFill>
                <a:latin typeface="Arial"/>
                <a:ea typeface="Arial"/>
                <a:cs typeface="Arial"/>
              </a:rPr>
              <a:t>Orbital GPUs</a:t>
            </a:r>
          </a:p>
        </p:txBody>
      </p:sp>
      <p:sp>
        <p:nvSpPr>
          <p:cNvPr id="9" name="">
            <a:extLst xmlns:a="http://schemas.openxmlformats.org/drawingml/2006/main">
              <a:ext uri="{FF2B5EF4-FFF2-40B4-BE49-F238E27FC236}">
                <a16:creationId xmlns:a16="http://schemas.microsoft.com/office/drawing/2014/main" id="{2B1D2DB1-A135-4A20-90E7-9CF099BF0B83}"/>
              </a:ext>
            </a:extLst>
          </p:cNvPr>
          <p:cNvSpPr>
            <a:spLocks xmlns:a="http://schemas.openxmlformats.org/drawingml/2006/main" noGrp="1"/>
          </p:cNvSpPr>
          <p:nvPr/>
        </p:nvSpPr>
        <p:spPr>
          <a:xfrm xmlns:a="http://schemas.openxmlformats.org/drawingml/2006/main">
            <a:off x="4400550" y="485775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86B63"/>
                </a:solidFill>
                <a:latin typeface="Arial"/>
                <a:ea typeface="Arial"/>
                <a:cs typeface="Arial"/>
              </a:defRPr>
            </a:pPr>
            <a:r>
              <a:rPr sz="2025" b="0">
                <a:solidFill>
                  <a:srgbClr val="686B63"/>
                </a:solidFill>
                <a:latin typeface="Arial"/>
                <a:ea typeface="Arial"/>
                <a:cs typeface="Arial"/>
              </a:rPr>
              <a:t>Run the AI models</a:t>
            </a:r>
          </a:p>
        </p:txBody>
      </p:sp>
      <p:sp>
        <p:nvSpPr>
          <p:cNvPr id="10" name="">
            <a:extLst xmlns:a="http://schemas.openxmlformats.org/drawingml/2006/main">
              <a:ext uri="{FF2B5EF4-FFF2-40B4-BE49-F238E27FC236}">
                <a16:creationId xmlns:a16="http://schemas.microsoft.com/office/drawing/2014/main" id="{9FB3CA62-D0B0-4171-ACF9-FD5495A2CCE7}"/>
              </a:ext>
            </a:extLst>
          </p:cNvPr>
          <p:cNvSpPr>
            <a:spLocks xmlns:a="http://schemas.openxmlformats.org/drawingml/2006/main" noGrp="1"/>
          </p:cNvSpPr>
          <p:nvPr/>
        </p:nvSpPr>
        <p:spPr>
          <a:xfrm xmlns:a="http://schemas.openxmlformats.org/drawingml/2006/main">
            <a:off x="832485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D509B2A5-1647-4319-B064-7407105E7172}"/>
              </a:ext>
            </a:extLst>
          </p:cNvPr>
          <p:cNvSpPr>
            <a:spLocks xmlns:a="http://schemas.openxmlformats.org/drawingml/2006/main" noGrp="1"/>
          </p:cNvSpPr>
          <p:nvPr/>
        </p:nvSpPr>
        <p:spPr>
          <a:xfrm xmlns:a="http://schemas.openxmlformats.org/drawingml/2006/main">
            <a:off x="8324850" y="4133850"/>
            <a:ext cx="328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1914"/>
                </a:solidFill>
                <a:latin typeface="Arial"/>
                <a:ea typeface="Arial"/>
                <a:cs typeface="Arial"/>
              </a:defRPr>
            </a:pPr>
            <a:r>
              <a:rPr sz="2700" b="1">
                <a:solidFill>
                  <a:srgbClr val="171914"/>
                </a:solidFill>
                <a:latin typeface="Arial"/>
                <a:ea typeface="Arial"/>
                <a:cs typeface="Arial"/>
              </a:rPr>
              <a:t>Fleet decisions</a:t>
            </a:r>
          </a:p>
        </p:txBody>
      </p:sp>
      <p:sp>
        <p:nvSpPr>
          <p:cNvPr id="12" name="">
            <a:extLst xmlns:a="http://schemas.openxmlformats.org/drawingml/2006/main">
              <a:ext uri="{FF2B5EF4-FFF2-40B4-BE49-F238E27FC236}">
                <a16:creationId xmlns:a16="http://schemas.microsoft.com/office/drawing/2014/main" id="{676C0823-8412-4920-8A3E-BF52AE48BF48}"/>
              </a:ext>
            </a:extLst>
          </p:cNvPr>
          <p:cNvSpPr>
            <a:spLocks xmlns:a="http://schemas.openxmlformats.org/drawingml/2006/main" noGrp="1"/>
          </p:cNvSpPr>
          <p:nvPr/>
        </p:nvSpPr>
        <p:spPr>
          <a:xfrm xmlns:a="http://schemas.openxmlformats.org/drawingml/2006/main">
            <a:off x="8324850" y="4857750"/>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86B63"/>
                </a:solidFill>
                <a:latin typeface="Arial"/>
                <a:ea typeface="Arial"/>
                <a:cs typeface="Arial"/>
              </a:defRPr>
            </a:pPr>
            <a:r>
              <a:rPr sz="2025" b="0">
                <a:solidFill>
                  <a:srgbClr val="686B63"/>
                </a:solidFill>
                <a:latin typeface="Arial"/>
                <a:ea typeface="Arial"/>
                <a:cs typeface="Arial"/>
              </a:rPr>
              <a:t>Routes + maintenance</a:t>
            </a:r>
          </a:p>
        </p:txBody>
      </p:sp>
    </p:spTree>
    <p:extLst>
      <p:ext uri="{BB962C8B-B14F-4D97-AF65-F5344CB8AC3E}">
        <p14:creationId xmlns:p14="http://schemas.microsoft.com/office/powerpoint/2010/main" val="52215710"/>
      </p:ext>
    </p:extLst>
  </p:cSld>
</p:sld>
</file>

<file path=ppt/slides/slide4.xml><?xml version="1.0" encoding="utf-8"?>
<p:sld xmlns:p="http://schemas.openxmlformats.org/presentationml/2006/main">
  <p:cSld>
    <p:bg>
      <p:bgPr>
        <a:solidFill xmlns:a="http://schemas.openxmlformats.org/drawingml/2006/main">
          <a:srgbClr val="FF640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DA795BF-71A9-467C-90DA-C39649871D53}"/>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8CBA64C5-C016-4CFE-876B-63AFA4839C0C}"/>
              </a:ext>
            </a:extLst>
          </p:cNvPr>
          <p:cNvSpPr>
            <a:spLocks xmlns:a="http://schemas.openxmlformats.org/drawingml/2006/main" noGrp="1"/>
          </p:cNvSpPr>
          <p:nvPr/>
        </p:nvSpPr>
        <p:spPr>
          <a:xfrm xmlns:a="http://schemas.openxmlformats.org/drawingml/2006/main">
            <a:off x="666750" y="5238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1914"/>
                </a:solidFill>
                <a:latin typeface="Arial"/>
                <a:ea typeface="Arial"/>
                <a:cs typeface="Arial"/>
              </a:defRPr>
            </a:pPr>
            <a:r>
              <a:rPr sz="1800" b="1">
                <a:solidFill>
                  <a:srgbClr val="171914"/>
                </a:solidFill>
                <a:latin typeface="Arial"/>
                <a:ea typeface="Arial"/>
                <a:cs typeface="Arial"/>
              </a:rPr>
              <a:t>REVENUE MODEL</a:t>
            </a:r>
          </a:p>
        </p:txBody>
      </p:sp>
      <p:sp>
        <p:nvSpPr>
          <p:cNvPr id="3" name="">
            <a:extLst xmlns:a="http://schemas.openxmlformats.org/drawingml/2006/main">
              <a:ext uri="{FF2B5EF4-FFF2-40B4-BE49-F238E27FC236}">
                <a16:creationId xmlns:a16="http://schemas.microsoft.com/office/drawing/2014/main" id="{8E562E36-CB55-4752-9CAE-583F62C101FE}"/>
              </a:ext>
            </a:extLst>
          </p:cNvPr>
          <p:cNvSpPr>
            <a:spLocks xmlns:a="http://schemas.openxmlformats.org/drawingml/2006/main" noGrp="1"/>
          </p:cNvSpPr>
          <p:nvPr/>
        </p:nvSpPr>
        <p:spPr>
          <a:xfrm xmlns:a="http://schemas.openxmlformats.org/drawingml/2006/main">
            <a:off x="619125" y="1524000"/>
            <a:ext cx="1085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0" b="1">
                <a:solidFill>
                  <a:srgbClr val="171914"/>
                </a:solidFill>
                <a:latin typeface="Arial"/>
                <a:ea typeface="Arial"/>
                <a:cs typeface="Arial"/>
              </a:defRPr>
            </a:pPr>
            <a:r>
              <a:rPr sz="11250" b="1">
                <a:solidFill>
                  <a:srgbClr val="171914"/>
                </a:solidFill>
                <a:latin typeface="Arial"/>
                <a:ea typeface="Arial"/>
                <a:cs typeface="Arial"/>
              </a:rPr>
              <a:t>We sell</a:t>
            </a:r>
          </a:p>
          <a:p xmlns:a="http://schemas.openxmlformats.org/drawingml/2006/main">
            <a:pPr>
              <a:defRPr sz="11250" b="1">
                <a:solidFill>
                  <a:srgbClr val="171914"/>
                </a:solidFill>
                <a:latin typeface="Arial"/>
                <a:ea typeface="Arial"/>
                <a:cs typeface="Arial"/>
              </a:defRPr>
            </a:pPr>
            <a:r>
              <a:rPr sz="11250" b="1">
                <a:solidFill>
                  <a:srgbClr val="171914"/>
                </a:solidFill>
                <a:latin typeface="Arial"/>
                <a:ea typeface="Arial"/>
                <a:cs typeface="Arial"/>
              </a:rPr>
              <a:t>miles.</a:t>
            </a:r>
          </a:p>
        </p:txBody>
      </p:sp>
      <p:sp>
        <p:nvSpPr>
          <p:cNvPr id="4" name="">
            <a:extLst xmlns:a="http://schemas.openxmlformats.org/drawingml/2006/main">
              <a:ext uri="{FF2B5EF4-FFF2-40B4-BE49-F238E27FC236}">
                <a16:creationId xmlns:a16="http://schemas.microsoft.com/office/drawing/2014/main" id="{9F8EC51B-7081-4F0F-B097-B7F7CAE691D7}"/>
              </a:ext>
            </a:extLst>
          </p:cNvPr>
          <p:cNvSpPr>
            <a:spLocks xmlns:a="http://schemas.openxmlformats.org/drawingml/2006/main" noGrp="1"/>
          </p:cNvSpPr>
          <p:nvPr/>
        </p:nvSpPr>
        <p:spPr>
          <a:xfrm xmlns:a="http://schemas.openxmlformats.org/drawingml/2006/main">
            <a:off x="714375" y="55626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1914"/>
                </a:solidFill>
                <a:latin typeface="Arial"/>
                <a:ea typeface="Arial"/>
                <a:cs typeface="Arial"/>
              </a:defRPr>
            </a:pPr>
            <a:r>
              <a:rPr sz="2850" b="1">
                <a:solidFill>
                  <a:srgbClr val="171914"/>
                </a:solidFill>
                <a:latin typeface="Arial"/>
                <a:ea typeface="Arial"/>
                <a:cs typeface="Arial"/>
              </a:rPr>
              <a:t>Compute revenue: $0.  Miles revenue: all of it.</a:t>
            </a:r>
          </a:p>
        </p:txBody>
      </p:sp>
    </p:spTree>
    <p:extLst>
      <p:ext uri="{BB962C8B-B14F-4D97-AF65-F5344CB8AC3E}">
        <p14:creationId xmlns:p14="http://schemas.microsoft.com/office/powerpoint/2010/main" val="109538229"/>
      </p:ext>
    </p:extLst>
  </p:cSld>
</p:sld>
</file>

<file path=ppt/slides/slide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B3675B3-DC3C-488D-B4FF-640D35FCF22D}"/>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B72AB022-D5D3-485F-A5A9-FB0F13A9E8C3}"/>
              </a:ext>
            </a:extLst>
          </p:cNvPr>
          <p:cNvSpPr>
            <a:spLocks xmlns:a="http://schemas.openxmlformats.org/drawingml/2006/main" noGrp="1"/>
          </p:cNvSpPr>
          <p:nvPr/>
        </p:nvSpPr>
        <p:spPr>
          <a:xfrm xmlns:a="http://schemas.openxmlformats.org/drawingml/2006/main">
            <a:off x="647700" y="4762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A REAL BUSINESS UNDER THE COSTUME</a:t>
            </a:r>
          </a:p>
        </p:txBody>
      </p:sp>
      <p:sp>
        <p:nvSpPr>
          <p:cNvPr id="3" name="">
            <a:extLst xmlns:a="http://schemas.openxmlformats.org/drawingml/2006/main">
              <a:ext uri="{FF2B5EF4-FFF2-40B4-BE49-F238E27FC236}">
                <a16:creationId xmlns:a16="http://schemas.microsoft.com/office/drawing/2014/main" id="{E8670C5C-1A3A-4299-92C4-D35604B16A95}"/>
              </a:ext>
            </a:extLst>
          </p:cNvPr>
          <p:cNvSpPr>
            <a:spLocks xmlns:a="http://schemas.openxmlformats.org/drawingml/2006/main" noGrp="1"/>
          </p:cNvSpPr>
          <p:nvPr/>
        </p:nvSpPr>
        <p:spPr>
          <a:xfrm xmlns:a="http://schemas.openxmlformats.org/drawingml/2006/main">
            <a:off x="638175" y="10763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71914"/>
                </a:solidFill>
                <a:latin typeface="Arial"/>
                <a:ea typeface="Arial"/>
                <a:cs typeface="Arial"/>
              </a:defRPr>
            </a:pPr>
            <a:r>
              <a:rPr sz="4800" b="1">
                <a:solidFill>
                  <a:srgbClr val="171914"/>
                </a:solidFill>
                <a:latin typeface="Arial"/>
                <a:ea typeface="Arial"/>
                <a:cs typeface="Arial"/>
              </a:rPr>
              <a:t>Fuel in. Flights out.</a:t>
            </a:r>
          </a:p>
        </p:txBody>
      </p:sp>
      <p:sp>
        <p:nvSpPr>
          <p:cNvPr id="4" name="">
            <a:extLst xmlns:a="http://schemas.openxmlformats.org/drawingml/2006/main">
              <a:ext uri="{FF2B5EF4-FFF2-40B4-BE49-F238E27FC236}">
                <a16:creationId xmlns:a16="http://schemas.microsoft.com/office/drawing/2014/main" id="{9C5505F9-E6EA-4C26-B78C-C30F1E55640A}"/>
              </a:ext>
            </a:extLst>
          </p:cNvPr>
          <p:cNvSpPr>
            <a:spLocks xmlns:a="http://schemas.openxmlformats.org/drawingml/2006/main" noGrp="1"/>
          </p:cNvSpPr>
          <p:nvPr/>
        </p:nvSpPr>
        <p:spPr>
          <a:xfrm xmlns:a="http://schemas.openxmlformats.org/drawingml/2006/main">
            <a:off x="723900" y="24384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70B9ED2-8A51-4CEE-8903-723796D44AF9}"/>
              </a:ext>
            </a:extLst>
          </p:cNvPr>
          <p:cNvSpPr>
            <a:spLocks xmlns:a="http://schemas.openxmlformats.org/drawingml/2006/main" noGrp="1"/>
          </p:cNvSpPr>
          <p:nvPr/>
        </p:nvSpPr>
        <p:spPr>
          <a:xfrm xmlns:a="http://schemas.openxmlformats.org/drawingml/2006/main">
            <a:off x="1600200" y="24384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Truck stops buy miles</a:t>
            </a:r>
          </a:p>
        </p:txBody>
      </p:sp>
      <p:sp>
        <p:nvSpPr>
          <p:cNvPr id="6" name="">
            <a:extLst xmlns:a="http://schemas.openxmlformats.org/drawingml/2006/main">
              <a:ext uri="{FF2B5EF4-FFF2-40B4-BE49-F238E27FC236}">
                <a16:creationId xmlns:a16="http://schemas.microsoft.com/office/drawing/2014/main" id="{E9E7A4EF-803F-4E2A-A6D8-1400E1299BF4}"/>
              </a:ext>
            </a:extLst>
          </p:cNvPr>
          <p:cNvSpPr>
            <a:spLocks xmlns:a="http://schemas.openxmlformats.org/drawingml/2006/main" noGrp="1"/>
          </p:cNvSpPr>
          <p:nvPr/>
        </p:nvSpPr>
        <p:spPr>
          <a:xfrm xmlns:a="http://schemas.openxmlformats.org/drawingml/2006/main">
            <a:off x="1600200" y="28479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bundled with their orbital compute contract.</a:t>
            </a:r>
          </a:p>
        </p:txBody>
      </p:sp>
      <p:sp>
        <p:nvSpPr>
          <p:cNvPr id="7" name="">
            <a:extLst xmlns:a="http://schemas.openxmlformats.org/drawingml/2006/main">
              <a:ext uri="{FF2B5EF4-FFF2-40B4-BE49-F238E27FC236}">
                <a16:creationId xmlns:a16="http://schemas.microsoft.com/office/drawing/2014/main" id="{FA0905BD-5F7A-433E-A979-AC2F4EFE88E7}"/>
              </a:ext>
            </a:extLst>
          </p:cNvPr>
          <p:cNvSpPr>
            <a:spLocks xmlns:a="http://schemas.openxmlformats.org/drawingml/2006/main" noGrp="1"/>
          </p:cNvSpPr>
          <p:nvPr/>
        </p:nvSpPr>
        <p:spPr>
          <a:xfrm xmlns:a="http://schemas.openxmlformats.org/drawingml/2006/main">
            <a:off x="723900" y="33147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1B04FBC9-B09E-4EE3-AABC-13926FE7C74C}"/>
              </a:ext>
            </a:extLst>
          </p:cNvPr>
          <p:cNvSpPr>
            <a:spLocks xmlns:a="http://schemas.openxmlformats.org/drawingml/2006/main" noGrp="1"/>
          </p:cNvSpPr>
          <p:nvPr/>
        </p:nvSpPr>
        <p:spPr>
          <a:xfrm xmlns:a="http://schemas.openxmlformats.org/drawingml/2006/main">
            <a:off x="1600200" y="33147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Customers earn miles</a:t>
            </a:r>
          </a:p>
        </p:txBody>
      </p:sp>
      <p:sp>
        <p:nvSpPr>
          <p:cNvPr id="9" name="">
            <a:extLst xmlns:a="http://schemas.openxmlformats.org/drawingml/2006/main">
              <a:ext uri="{FF2B5EF4-FFF2-40B4-BE49-F238E27FC236}">
                <a16:creationId xmlns:a16="http://schemas.microsoft.com/office/drawing/2014/main" id="{64983B92-C314-49B5-B918-20F6403A8DDB}"/>
              </a:ext>
            </a:extLst>
          </p:cNvPr>
          <p:cNvSpPr>
            <a:spLocks xmlns:a="http://schemas.openxmlformats.org/drawingml/2006/main" noGrp="1"/>
          </p:cNvSpPr>
          <p:nvPr/>
        </p:nvSpPr>
        <p:spPr>
          <a:xfrm xmlns:a="http://schemas.openxmlformats.org/drawingml/2006/main">
            <a:off x="1600200" y="37242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on fuel, food, and compute usage.</a:t>
            </a:r>
          </a:p>
        </p:txBody>
      </p:sp>
      <p:sp>
        <p:nvSpPr>
          <p:cNvPr id="10" name="">
            <a:extLst xmlns:a="http://schemas.openxmlformats.org/drawingml/2006/main">
              <a:ext uri="{FF2B5EF4-FFF2-40B4-BE49-F238E27FC236}">
                <a16:creationId xmlns:a16="http://schemas.microsoft.com/office/drawing/2014/main" id="{3DF713C5-3FB1-4557-BF88-40B0CA2AA094}"/>
              </a:ext>
            </a:extLst>
          </p:cNvPr>
          <p:cNvSpPr>
            <a:spLocks xmlns:a="http://schemas.openxmlformats.org/drawingml/2006/main" noGrp="1"/>
          </p:cNvSpPr>
          <p:nvPr/>
        </p:nvSpPr>
        <p:spPr>
          <a:xfrm xmlns:a="http://schemas.openxmlformats.org/drawingml/2006/main">
            <a:off x="723900" y="41910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260A4DC8-6AE9-452C-ADDE-8187BCE87801}"/>
              </a:ext>
            </a:extLst>
          </p:cNvPr>
          <p:cNvSpPr>
            <a:spLocks xmlns:a="http://schemas.openxmlformats.org/drawingml/2006/main" noGrp="1"/>
          </p:cNvSpPr>
          <p:nvPr/>
        </p:nvSpPr>
        <p:spPr>
          <a:xfrm xmlns:a="http://schemas.openxmlformats.org/drawingml/2006/main">
            <a:off x="1600200" y="41910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We pay for real flights</a:t>
            </a:r>
          </a:p>
        </p:txBody>
      </p:sp>
      <p:sp>
        <p:nvSpPr>
          <p:cNvPr id="12" name="">
            <a:extLst xmlns:a="http://schemas.openxmlformats.org/drawingml/2006/main">
              <a:ext uri="{FF2B5EF4-FFF2-40B4-BE49-F238E27FC236}">
                <a16:creationId xmlns:a16="http://schemas.microsoft.com/office/drawing/2014/main" id="{1C79CD69-4E0A-4AB4-8281-9A17ADF42DF0}"/>
              </a:ext>
            </a:extLst>
          </p:cNvPr>
          <p:cNvSpPr>
            <a:spLocks xmlns:a="http://schemas.openxmlformats.org/drawingml/2006/main" noGrp="1"/>
          </p:cNvSpPr>
          <p:nvPr/>
        </p:nvSpPr>
        <p:spPr>
          <a:xfrm xmlns:a="http://schemas.openxmlformats.org/drawingml/2006/main">
            <a:off x="1600200" y="46005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on existing airlines when miles are redeemed.</a:t>
            </a:r>
          </a:p>
        </p:txBody>
      </p:sp>
      <p:sp>
        <p:nvSpPr>
          <p:cNvPr id="13" name="">
            <a:extLst xmlns:a="http://schemas.openxmlformats.org/drawingml/2006/main">
              <a:ext uri="{FF2B5EF4-FFF2-40B4-BE49-F238E27FC236}">
                <a16:creationId xmlns:a16="http://schemas.microsoft.com/office/drawing/2014/main" id="{0C53CCB3-BD2B-467A-8AB8-F3C129F07E66}"/>
              </a:ext>
            </a:extLst>
          </p:cNvPr>
          <p:cNvSpPr>
            <a:spLocks xmlns:a="http://schemas.openxmlformats.org/drawingml/2006/main" noGrp="1"/>
          </p:cNvSpPr>
          <p:nvPr/>
        </p:nvSpPr>
        <p:spPr>
          <a:xfrm xmlns:a="http://schemas.openxmlformats.org/drawingml/2006/main">
            <a:off x="723900" y="50673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802083F6-2EE2-4E6E-8B4F-2D7E5DC9EAA6}"/>
              </a:ext>
            </a:extLst>
          </p:cNvPr>
          <p:cNvSpPr>
            <a:spLocks xmlns:a="http://schemas.openxmlformats.org/drawingml/2006/main" noGrp="1"/>
          </p:cNvSpPr>
          <p:nvPr/>
        </p:nvSpPr>
        <p:spPr>
          <a:xfrm xmlns:a="http://schemas.openxmlformats.org/drawingml/2006/main">
            <a:off x="1600200" y="50673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We keep the difference</a:t>
            </a:r>
          </a:p>
        </p:txBody>
      </p:sp>
      <p:sp>
        <p:nvSpPr>
          <p:cNvPr id="15" name="">
            <a:extLst xmlns:a="http://schemas.openxmlformats.org/drawingml/2006/main">
              <a:ext uri="{FF2B5EF4-FFF2-40B4-BE49-F238E27FC236}">
                <a16:creationId xmlns:a16="http://schemas.microsoft.com/office/drawing/2014/main" id="{BA1C0FF6-B997-4875-BAC5-929DD63CB2AE}"/>
              </a:ext>
            </a:extLst>
          </p:cNvPr>
          <p:cNvSpPr>
            <a:spLocks xmlns:a="http://schemas.openxmlformats.org/drawingml/2006/main" noGrp="1"/>
          </p:cNvSpPr>
          <p:nvPr/>
        </p:nvSpPr>
        <p:spPr>
          <a:xfrm xmlns:a="http://schemas.openxmlformats.org/drawingml/2006/main">
            <a:off x="1600200" y="54768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after reward and operating costs.</a:t>
            </a:r>
          </a:p>
        </p:txBody>
      </p:sp>
    </p:spTree>
    <p:extLst>
      <p:ext uri="{BB962C8B-B14F-4D97-AF65-F5344CB8AC3E}">
        <p14:creationId xmlns:p14="http://schemas.microsoft.com/office/powerpoint/2010/main" val="219136785"/>
      </p:ext>
    </p:extLst>
  </p:cSld>
</p:sld>
</file>

<file path=ppt/slides/slide6.xml><?xml version="1.0" encoding="utf-8"?>
<p:sld xmlns:p="http://schemas.openxmlformats.org/presentationml/2006/main">
  <p:cSld>
    <p:bg>
      <p:bgPr>
        <a:solidFill xmlns:a="http://schemas.openxmlformats.org/drawingml/2006/main">
          <a:srgbClr val="17191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BFEBCD-CABA-440B-994F-87D36884905C}"/>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999999"/>
                </a:solidFill>
                <a:latin typeface="Arial"/>
                <a:ea typeface="Arial"/>
                <a:cs typeface="Arial"/>
              </a:defRPr>
            </a:pPr>
            <a:r>
              <a:rPr sz="1200" b="0">
                <a:solidFill>
                  <a:srgbClr val="999999"/>
                </a:solidFill>
                <a:latin typeface="Arial"/>
                <a:ea typeface="Arial"/>
                <a:cs typeface="Arial"/>
              </a:rPr>
              <a:t>06</a:t>
            </a:r>
          </a:p>
        </p:txBody>
      </p:sp>
      <p:sp>
        <p:nvSpPr>
          <p:cNvPr id="2" name="">
            <a:extLst xmlns:a="http://schemas.openxmlformats.org/drawingml/2006/main">
              <a:ext uri="{FF2B5EF4-FFF2-40B4-BE49-F238E27FC236}">
                <a16:creationId xmlns:a16="http://schemas.microsoft.com/office/drawing/2014/main" id="{9ABADC41-B6B6-4E00-9CE4-A56362F1E316}"/>
              </a:ext>
            </a:extLst>
          </p:cNvPr>
          <p:cNvSpPr>
            <a:spLocks xmlns:a="http://schemas.openxmlformats.org/drawingml/2006/main" noGrp="1"/>
          </p:cNvSpPr>
          <p:nvPr/>
        </p:nvSpPr>
        <p:spPr>
          <a:xfrm xmlns:a="http://schemas.openxmlformats.org/drawingml/2006/main">
            <a:off x="666750" y="523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4F1EA"/>
                </a:solidFill>
                <a:latin typeface="Arial"/>
                <a:ea typeface="Arial"/>
                <a:cs typeface="Arial"/>
              </a:defRPr>
            </a:pPr>
            <a:r>
              <a:rPr sz="2400" b="1">
                <a:solidFill>
                  <a:srgbClr val="F4F1EA"/>
                </a:solidFill>
                <a:latin typeface="Arial"/>
                <a:ea typeface="Arial"/>
                <a:cs typeface="Arial"/>
              </a:rPr>
              <a:t>THE DATA CENTER IS A</a:t>
            </a:r>
          </a:p>
        </p:txBody>
      </p:sp>
      <p:sp>
        <p:nvSpPr>
          <p:cNvPr id="3" name="">
            <a:extLst xmlns:a="http://schemas.openxmlformats.org/drawingml/2006/main">
              <a:ext uri="{FF2B5EF4-FFF2-40B4-BE49-F238E27FC236}">
                <a16:creationId xmlns:a16="http://schemas.microsoft.com/office/drawing/2014/main" id="{121683AC-9B28-430E-8A7C-EF3B5233FD70}"/>
              </a:ext>
            </a:extLst>
          </p:cNvPr>
          <p:cNvSpPr>
            <a:spLocks xmlns:a="http://schemas.openxmlformats.org/drawingml/2006/main" noGrp="1"/>
          </p:cNvSpPr>
          <p:nvPr/>
        </p:nvSpPr>
        <p:spPr>
          <a:xfrm xmlns:a="http://schemas.openxmlformats.org/drawingml/2006/main">
            <a:off x="609600" y="1743075"/>
            <a:ext cx="5524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0" b="1">
                <a:solidFill>
                  <a:srgbClr val="FF6400"/>
                </a:solidFill>
                <a:latin typeface="Arial"/>
                <a:ea typeface="Arial"/>
                <a:cs typeface="Arial"/>
              </a:defRPr>
            </a:pPr>
            <a:r>
              <a:rPr sz="9750" b="1">
                <a:solidFill>
                  <a:srgbClr val="FF6400"/>
                </a:solidFill>
                <a:latin typeface="Arial"/>
                <a:ea typeface="Arial"/>
                <a:cs typeface="Arial"/>
              </a:rPr>
              <a:t>$600M</a:t>
            </a:r>
          </a:p>
        </p:txBody>
      </p:sp>
      <p:sp>
        <p:nvSpPr>
          <p:cNvPr id="4" name="">
            <a:extLst xmlns:a="http://schemas.openxmlformats.org/drawingml/2006/main">
              <a:ext uri="{FF2B5EF4-FFF2-40B4-BE49-F238E27FC236}">
                <a16:creationId xmlns:a16="http://schemas.microsoft.com/office/drawing/2014/main" id="{323B3744-7716-4BC8-931B-1A95CFF75626}"/>
              </a:ext>
            </a:extLst>
          </p:cNvPr>
          <p:cNvSpPr>
            <a:spLocks xmlns:a="http://schemas.openxmlformats.org/drawingml/2006/main" noGrp="1"/>
          </p:cNvSpPr>
          <p:nvPr/>
        </p:nvSpPr>
        <p:spPr>
          <a:xfrm xmlns:a="http://schemas.openxmlformats.org/drawingml/2006/main">
            <a:off x="723900" y="3381375"/>
            <a:ext cx="5762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F4F1EA"/>
                </a:solidFill>
                <a:latin typeface="Arial"/>
                <a:ea typeface="Arial"/>
                <a:cs typeface="Arial"/>
              </a:defRPr>
            </a:pPr>
            <a:r>
              <a:rPr sz="3975" b="1">
                <a:solidFill>
                  <a:srgbClr val="F4F1EA"/>
                </a:solidFill>
                <a:latin typeface="Arial"/>
                <a:ea typeface="Arial"/>
                <a:cs typeface="Arial"/>
              </a:rPr>
              <a:t>signup bonus.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b1afebbef7b4ead"/>
          <a:stretch xmlns:a="http://schemas.openxmlformats.org/drawingml/2006/main"/>
        </p:blipFill>
        <p:spPr>
          <a:xfrm xmlns:a="http://schemas.openxmlformats.org/drawingml/2006/main">
            <a:off x="6238875" y="1606854"/>
            <a:ext cx="5429250" cy="364429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72E166A-04BB-4C86-A5CB-5275946AC4E4}"/>
              </a:ext>
            </a:extLst>
          </p:cNvPr>
          <p:cNvSpPr>
            <a:spLocks xmlns:a="http://schemas.openxmlformats.org/drawingml/2006/main" noGrp="1"/>
          </p:cNvSpPr>
          <p:nvPr/>
        </p:nvSpPr>
        <p:spPr>
          <a:xfrm xmlns:a="http://schemas.openxmlformats.org/drawingml/2006/main">
            <a:off x="733425" y="55626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F1EA"/>
                </a:solidFill>
                <a:latin typeface="Arial"/>
                <a:ea typeface="Arial"/>
                <a:cs typeface="Arial"/>
              </a:defRPr>
            </a:pPr>
            <a:r>
              <a:rPr sz="2550" b="1">
                <a:solidFill>
                  <a:srgbClr val="F4F1EA"/>
                </a:solidFill>
                <a:latin typeface="Arial"/>
                <a:ea typeface="Arial"/>
                <a:cs typeface="Arial"/>
              </a:rPr>
              <a:t>Free compute. A very expensive loyalty program.</a:t>
            </a:r>
          </a:p>
        </p:txBody>
      </p:sp>
    </p:spTree>
    <p:extLst>
      <p:ext uri="{BB962C8B-B14F-4D97-AF65-F5344CB8AC3E}">
        <p14:creationId xmlns:p14="http://schemas.microsoft.com/office/powerpoint/2010/main" val="966300259"/>
      </p:ext>
    </p:extLst>
  </p:cSld>
</p:sld>
</file>

<file path=ppt/slides/slide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1DDF963-8B15-4317-880E-334F02E75F7F}"/>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07</a:t>
            </a:r>
          </a:p>
        </p:txBody>
      </p:sp>
      <p:sp>
        <p:nvSpPr>
          <p:cNvPr id="2" name="">
            <a:extLst xmlns:a="http://schemas.openxmlformats.org/drawingml/2006/main">
              <a:ext uri="{FF2B5EF4-FFF2-40B4-BE49-F238E27FC236}">
                <a16:creationId xmlns:a16="http://schemas.microsoft.com/office/drawing/2014/main" id="{CAC37EE5-F1B5-4FE7-BD5A-3DFCA5C87685}"/>
              </a:ext>
            </a:extLst>
          </p:cNvPr>
          <p:cNvSpPr>
            <a:spLocks xmlns:a="http://schemas.openxmlformats.org/drawingml/2006/main" noGrp="1"/>
          </p:cNvSpPr>
          <p:nvPr/>
        </p:nvSpPr>
        <p:spPr>
          <a:xfrm xmlns:a="http://schemas.openxmlformats.org/drawingml/2006/main">
            <a:off x="666750" y="4572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THE TEAM</a:t>
            </a:r>
          </a:p>
        </p:txBody>
      </p:sp>
      <p:sp>
        <p:nvSpPr>
          <p:cNvPr id="3" name="">
            <a:extLst xmlns:a="http://schemas.openxmlformats.org/drawingml/2006/main">
              <a:ext uri="{FF2B5EF4-FFF2-40B4-BE49-F238E27FC236}">
                <a16:creationId xmlns:a16="http://schemas.microsoft.com/office/drawing/2014/main" id="{757C6714-BB9D-4843-A81E-45393AF1B1E4}"/>
              </a:ext>
            </a:extLst>
          </p:cNvPr>
          <p:cNvSpPr>
            <a:spLocks xmlns:a="http://schemas.openxmlformats.org/drawingml/2006/main" noGrp="1"/>
          </p:cNvSpPr>
          <p:nvPr/>
        </p:nvSpPr>
        <p:spPr>
          <a:xfrm xmlns:a="http://schemas.openxmlformats.org/drawingml/2006/main">
            <a:off x="647700" y="1038225"/>
            <a:ext cx="10858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171914"/>
                </a:solidFill>
                <a:latin typeface="Arial"/>
                <a:ea typeface="Arial"/>
                <a:cs typeface="Arial"/>
              </a:defRPr>
            </a:pPr>
            <a:r>
              <a:rPr sz="4275" b="1">
                <a:solidFill>
                  <a:srgbClr val="171914"/>
                </a:solidFill>
                <a:latin typeface="Arial"/>
                <a:ea typeface="Arial"/>
                <a:cs typeface="Arial"/>
              </a:rPr>
              <a:t>Two Forbes honorees.</a:t>
            </a:r>
          </a:p>
          <a:p xmlns:a="http://schemas.openxmlformats.org/drawingml/2006/main">
            <a:pPr>
              <a:defRPr sz="4275" b="1">
                <a:solidFill>
                  <a:srgbClr val="171914"/>
                </a:solidFill>
                <a:latin typeface="Arial"/>
                <a:ea typeface="Arial"/>
                <a:cs typeface="Arial"/>
              </a:defRPr>
            </a:pPr>
            <a:r>
              <a:rPr sz="4275" b="1">
                <a:solidFill>
                  <a:srgbClr val="171914"/>
                </a:solidFill>
                <a:latin typeface="Arial"/>
                <a:ea typeface="Arial"/>
                <a:cs typeface="Arial"/>
              </a:rPr>
              <a:t>One getaway driver.</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23214ac2019402a"/>
          <a:srcRect xmlns:a="http://schemas.openxmlformats.org/drawingml/2006/main" l="0" t="0" r="0" b="0"/>
          <a:stretch xmlns:a="http://schemas.openxmlformats.org/drawingml/2006/main">
            <a:fillRect l="0" t="0" r="0" b="0"/>
          </a:stretch>
        </p:blipFill>
        <p:spPr>
          <a:xfrm xmlns:a="http://schemas.openxmlformats.org/drawingml/2006/main">
            <a:off x="723900" y="2543175"/>
            <a:ext cx="2762250" cy="2762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FFCF822-7FA0-46C7-86E2-E79587ECB8BA}"/>
              </a:ext>
            </a:extLst>
          </p:cNvPr>
          <p:cNvSpPr>
            <a:spLocks xmlns:a="http://schemas.openxmlformats.org/drawingml/2006/main" noGrp="1"/>
          </p:cNvSpPr>
          <p:nvPr/>
        </p:nvSpPr>
        <p:spPr>
          <a:xfrm xmlns:a="http://schemas.openxmlformats.org/drawingml/2006/main">
            <a:off x="723900" y="541020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NADAV SHOVAL</a:t>
            </a:r>
          </a:p>
        </p:txBody>
      </p:sp>
      <p:sp>
        <p:nvSpPr>
          <p:cNvPr id="6" name="">
            <a:extLst xmlns:a="http://schemas.openxmlformats.org/drawingml/2006/main">
              <a:ext uri="{FF2B5EF4-FFF2-40B4-BE49-F238E27FC236}">
                <a16:creationId xmlns:a16="http://schemas.microsoft.com/office/drawing/2014/main" id="{0E959FB3-6142-462E-A212-6C5E4387515C}"/>
              </a:ext>
            </a:extLst>
          </p:cNvPr>
          <p:cNvSpPr>
            <a:spLocks xmlns:a="http://schemas.openxmlformats.org/drawingml/2006/main" noGrp="1"/>
          </p:cNvSpPr>
          <p:nvPr/>
        </p:nvSpPr>
        <p:spPr>
          <a:xfrm xmlns:a="http://schemas.openxmlformats.org/drawingml/2006/main">
            <a:off x="723900" y="581977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86B63"/>
                </a:solidFill>
                <a:latin typeface="Arial"/>
                <a:ea typeface="Arial"/>
                <a:cs typeface="Arial"/>
              </a:defRPr>
            </a:pPr>
            <a:r>
              <a:rPr sz="1800" b="0">
                <a:solidFill>
                  <a:srgbClr val="686B63"/>
                </a:solidFill>
                <a:latin typeface="Arial"/>
                <a:ea typeface="Arial"/>
                <a:cs typeface="Arial"/>
              </a:rPr>
              <a:t>Forbes 30 Under 30</a:t>
            </a:r>
          </a:p>
        </p:txBody>
      </p:sp>
      <p:sp>
        <p:nvSpPr>
          <p:cNvPr id="7" name="">
            <a:extLst xmlns:a="http://schemas.openxmlformats.org/drawingml/2006/main">
              <a:ext uri="{FF2B5EF4-FFF2-40B4-BE49-F238E27FC236}">
                <a16:creationId xmlns:a16="http://schemas.microsoft.com/office/drawing/2014/main" id="{A6070202-4B9D-479D-B177-B5588378F279}"/>
              </a:ext>
            </a:extLst>
          </p:cNvPr>
          <p:cNvSpPr>
            <a:spLocks xmlns:a="http://schemas.openxmlformats.org/drawingml/2006/main" noGrp="1"/>
          </p:cNvSpPr>
          <p:nvPr/>
        </p:nvSpPr>
        <p:spPr>
          <a:xfrm xmlns:a="http://schemas.openxmlformats.org/drawingml/2006/main">
            <a:off x="723900" y="6200775"/>
            <a:ext cx="3381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6400"/>
                </a:solidFill>
                <a:latin typeface="Arial"/>
                <a:ea typeface="Arial"/>
                <a:cs typeface="Arial"/>
              </a:defRPr>
            </a:pPr>
            <a:r>
              <a:rPr sz="1650" b="1">
                <a:solidFill>
                  <a:srgbClr val="FF6400"/>
                </a:solidFill>
                <a:latin typeface="Arial"/>
                <a:ea typeface="Arial"/>
                <a:cs typeface="Arial"/>
              </a:rPr>
              <a:t>Head of miles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96a404f050849f2"/>
          <a:srcRect xmlns:a="http://schemas.openxmlformats.org/drawingml/2006/main" l="0" t="0" r="0" b="0"/>
          <a:stretch xmlns:a="http://schemas.openxmlformats.org/drawingml/2006/main">
            <a:fillRect l="0" t="0" r="0" b="0"/>
          </a:stretch>
        </p:blipFill>
        <p:spPr>
          <a:xfrm xmlns:a="http://schemas.openxmlformats.org/drawingml/2006/main">
            <a:off x="4438650" y="2543175"/>
            <a:ext cx="2762250" cy="2762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628FFF0-3291-4EDB-999B-1305850981FE}"/>
              </a:ext>
            </a:extLst>
          </p:cNvPr>
          <p:cNvSpPr>
            <a:spLocks xmlns:a="http://schemas.openxmlformats.org/drawingml/2006/main" noGrp="1"/>
          </p:cNvSpPr>
          <p:nvPr/>
        </p:nvSpPr>
        <p:spPr>
          <a:xfrm xmlns:a="http://schemas.openxmlformats.org/drawingml/2006/main">
            <a:off x="4438650" y="541020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PARKER TENNEY</a:t>
            </a:r>
          </a:p>
        </p:txBody>
      </p:sp>
      <p:sp>
        <p:nvSpPr>
          <p:cNvPr id="10" name="">
            <a:extLst xmlns:a="http://schemas.openxmlformats.org/drawingml/2006/main">
              <a:ext uri="{FF2B5EF4-FFF2-40B4-BE49-F238E27FC236}">
                <a16:creationId xmlns:a16="http://schemas.microsoft.com/office/drawing/2014/main" id="{1CFE4A8A-89ED-4F35-9E3E-FCA639D7ED68}"/>
              </a:ext>
            </a:extLst>
          </p:cNvPr>
          <p:cNvSpPr>
            <a:spLocks xmlns:a="http://schemas.openxmlformats.org/drawingml/2006/main" noGrp="1"/>
          </p:cNvSpPr>
          <p:nvPr/>
        </p:nvSpPr>
        <p:spPr>
          <a:xfrm xmlns:a="http://schemas.openxmlformats.org/drawingml/2006/main">
            <a:off x="4438650" y="581977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86B63"/>
                </a:solidFill>
                <a:latin typeface="Arial"/>
                <a:ea typeface="Arial"/>
                <a:cs typeface="Arial"/>
              </a:defRPr>
            </a:pPr>
            <a:r>
              <a:rPr sz="1800" b="0">
                <a:solidFill>
                  <a:srgbClr val="686B63"/>
                </a:solidFill>
                <a:latin typeface="Arial"/>
                <a:ea typeface="Arial"/>
                <a:cs typeface="Arial"/>
              </a:rPr>
              <a:t>Forbes 30 Under 30</a:t>
            </a:r>
          </a:p>
        </p:txBody>
      </p:sp>
      <p:sp>
        <p:nvSpPr>
          <p:cNvPr id="11" name="">
            <a:extLst xmlns:a="http://schemas.openxmlformats.org/drawingml/2006/main">
              <a:ext uri="{FF2B5EF4-FFF2-40B4-BE49-F238E27FC236}">
                <a16:creationId xmlns:a16="http://schemas.microsoft.com/office/drawing/2014/main" id="{89816EB7-DA33-48D8-9294-4295F1CB26B8}"/>
              </a:ext>
            </a:extLst>
          </p:cNvPr>
          <p:cNvSpPr>
            <a:spLocks xmlns:a="http://schemas.openxmlformats.org/drawingml/2006/main" noGrp="1"/>
          </p:cNvSpPr>
          <p:nvPr/>
        </p:nvSpPr>
        <p:spPr>
          <a:xfrm xmlns:a="http://schemas.openxmlformats.org/drawingml/2006/main">
            <a:off x="4438650" y="6200775"/>
            <a:ext cx="3381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6400"/>
                </a:solidFill>
                <a:latin typeface="Arial"/>
                <a:ea typeface="Arial"/>
                <a:cs typeface="Arial"/>
              </a:defRPr>
            </a:pPr>
            <a:r>
              <a:rPr sz="1650" b="1">
                <a:solidFill>
                  <a:srgbClr val="FF6400"/>
                </a:solidFill>
                <a:latin typeface="Arial"/>
                <a:ea typeface="Arial"/>
                <a:cs typeface="Arial"/>
              </a:rPr>
              <a:t>Head of valuation</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760a7ea7d6e54f09"/>
          <a:srcRect xmlns:a="http://schemas.openxmlformats.org/drawingml/2006/main" l="0" t="0" r="0" b="0"/>
          <a:stretch xmlns:a="http://schemas.openxmlformats.org/drawingml/2006/main">
            <a:fillRect l="0" t="0" r="0" b="0"/>
          </a:stretch>
        </p:blipFill>
        <p:spPr>
          <a:xfrm xmlns:a="http://schemas.openxmlformats.org/drawingml/2006/main">
            <a:off x="8153400" y="2543175"/>
            <a:ext cx="2762250" cy="27622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EC65A693-CC8E-4591-A191-F015C7F204A1}"/>
              </a:ext>
            </a:extLst>
          </p:cNvPr>
          <p:cNvSpPr>
            <a:spLocks xmlns:a="http://schemas.openxmlformats.org/drawingml/2006/main" noGrp="1"/>
          </p:cNvSpPr>
          <p:nvPr/>
        </p:nvSpPr>
        <p:spPr>
          <a:xfrm xmlns:a="http://schemas.openxmlformats.org/drawingml/2006/main">
            <a:off x="8153400" y="541020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PATRICK FINLEY</a:t>
            </a:r>
          </a:p>
        </p:txBody>
      </p:sp>
      <p:sp>
        <p:nvSpPr>
          <p:cNvPr id="14" name="">
            <a:extLst xmlns:a="http://schemas.openxmlformats.org/drawingml/2006/main">
              <a:ext uri="{FF2B5EF4-FFF2-40B4-BE49-F238E27FC236}">
                <a16:creationId xmlns:a16="http://schemas.microsoft.com/office/drawing/2014/main" id="{1E00B66F-2843-4AAE-A932-0C1BD296EF77}"/>
              </a:ext>
            </a:extLst>
          </p:cNvPr>
          <p:cNvSpPr>
            <a:spLocks xmlns:a="http://schemas.openxmlformats.org/drawingml/2006/main" noGrp="1"/>
          </p:cNvSpPr>
          <p:nvPr/>
        </p:nvSpPr>
        <p:spPr>
          <a:xfrm xmlns:a="http://schemas.openxmlformats.org/drawingml/2006/main">
            <a:off x="8153400" y="581977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86B63"/>
                </a:solidFill>
                <a:latin typeface="Arial"/>
                <a:ea typeface="Arial"/>
                <a:cs typeface="Arial"/>
              </a:defRPr>
            </a:pPr>
            <a:r>
              <a:rPr sz="1800" b="0">
                <a:solidFill>
                  <a:srgbClr val="686B63"/>
                </a:solidFill>
                <a:latin typeface="Arial"/>
                <a:ea typeface="Arial"/>
                <a:cs typeface="Arial"/>
              </a:rPr>
              <a:t>Beat Starship at racing</a:t>
            </a:r>
          </a:p>
        </p:txBody>
      </p:sp>
      <p:sp>
        <p:nvSpPr>
          <p:cNvPr id="15" name="">
            <a:extLst xmlns:a="http://schemas.openxmlformats.org/drawingml/2006/main">
              <a:ext uri="{FF2B5EF4-FFF2-40B4-BE49-F238E27FC236}">
                <a16:creationId xmlns:a16="http://schemas.microsoft.com/office/drawing/2014/main" id="{E48ABF80-D67F-416E-B567-8F7D0A8430D5}"/>
              </a:ext>
            </a:extLst>
          </p:cNvPr>
          <p:cNvSpPr>
            <a:spLocks xmlns:a="http://schemas.openxmlformats.org/drawingml/2006/main" noGrp="1"/>
          </p:cNvSpPr>
          <p:nvPr/>
        </p:nvSpPr>
        <p:spPr>
          <a:xfrm xmlns:a="http://schemas.openxmlformats.org/drawingml/2006/main">
            <a:off x="8153400" y="6200775"/>
            <a:ext cx="3381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6400"/>
                </a:solidFill>
                <a:latin typeface="Arial"/>
                <a:ea typeface="Arial"/>
                <a:cs typeface="Arial"/>
              </a:defRPr>
            </a:pPr>
            <a:r>
              <a:rPr sz="1650" b="1">
                <a:solidFill>
                  <a:srgbClr val="FF6400"/>
                </a:solidFill>
                <a:latin typeface="Arial"/>
                <a:ea typeface="Arial"/>
                <a:cs typeface="Arial"/>
              </a:rPr>
              <a:t>Head of exits</a:t>
            </a:r>
          </a:p>
        </p:txBody>
      </p:sp>
    </p:spTree>
    <p:extLst>
      <p:ext uri="{BB962C8B-B14F-4D97-AF65-F5344CB8AC3E}">
        <p14:creationId xmlns:p14="http://schemas.microsoft.com/office/powerpoint/2010/main" val="1800937406"/>
      </p:ext>
    </p:extLst>
  </p:cSld>
</p:sld>
</file>

<file path=ppt/slides/slide8.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9F0325-74F0-4563-8C34-0A07A7F12F17}"/>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08</a:t>
            </a:r>
          </a:p>
        </p:txBody>
      </p:sp>
      <p:sp>
        <p:nvSpPr>
          <p:cNvPr id="2" name="">
            <a:extLst xmlns:a="http://schemas.openxmlformats.org/drawingml/2006/main">
              <a:ext uri="{FF2B5EF4-FFF2-40B4-BE49-F238E27FC236}">
                <a16:creationId xmlns:a16="http://schemas.microsoft.com/office/drawing/2014/main" id="{20C3B7D4-539A-411B-A6E6-7664B5094FD7}"/>
              </a:ext>
            </a:extLst>
          </p:cNvPr>
          <p:cNvSpPr>
            <a:spLocks xmlns:a="http://schemas.openxmlformats.org/drawingml/2006/main" noGrp="1"/>
          </p:cNvSpPr>
          <p:nvPr/>
        </p:nvSpPr>
        <p:spPr>
          <a:xfrm xmlns:a="http://schemas.openxmlformats.org/drawingml/2006/main">
            <a:off x="666750" y="4762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TECHNICAL DILIGENCE</a:t>
            </a:r>
          </a:p>
        </p:txBody>
      </p:sp>
      <p:sp>
        <p:nvSpPr>
          <p:cNvPr id="3" name="">
            <a:extLst xmlns:a="http://schemas.openxmlformats.org/drawingml/2006/main">
              <a:ext uri="{FF2B5EF4-FFF2-40B4-BE49-F238E27FC236}">
                <a16:creationId xmlns:a16="http://schemas.microsoft.com/office/drawing/2014/main" id="{ACD4F187-26A9-495C-A446-7619E509BC9A}"/>
              </a:ext>
            </a:extLst>
          </p:cNvPr>
          <p:cNvSpPr>
            <a:spLocks xmlns:a="http://schemas.openxmlformats.org/drawingml/2006/main" noGrp="1"/>
          </p:cNvSpPr>
          <p:nvPr/>
        </p:nvSpPr>
        <p:spPr>
          <a:xfrm xmlns:a="http://schemas.openxmlformats.org/drawingml/2006/main">
            <a:off x="657225" y="1619250"/>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900" b="1">
                <a:solidFill>
                  <a:srgbClr val="171914"/>
                </a:solidFill>
                <a:latin typeface="Arial"/>
                <a:ea typeface="Arial"/>
                <a:cs typeface="Arial"/>
              </a:defRPr>
            </a:pPr>
            <a:r>
              <a:rPr sz="6900" b="1">
                <a:solidFill>
                  <a:srgbClr val="171914"/>
                </a:solidFill>
                <a:latin typeface="Arial"/>
                <a:ea typeface="Arial"/>
                <a:cs typeface="Arial"/>
              </a:rPr>
              <a:t>We have Will.</a:t>
            </a:r>
          </a:p>
        </p:txBody>
      </p:sp>
      <p:sp>
        <p:nvSpPr>
          <p:cNvPr id="4" name="">
            <a:extLst xmlns:a="http://schemas.openxmlformats.org/drawingml/2006/main">
              <a:ext uri="{FF2B5EF4-FFF2-40B4-BE49-F238E27FC236}">
                <a16:creationId xmlns:a16="http://schemas.microsoft.com/office/drawing/2014/main" id="{CD549977-034C-4BDC-966B-8F7808144745}"/>
              </a:ext>
            </a:extLst>
          </p:cNvPr>
          <p:cNvSpPr>
            <a:spLocks xmlns:a="http://schemas.openxmlformats.org/drawingml/2006/main" noGrp="1"/>
          </p:cNvSpPr>
          <p:nvPr/>
        </p:nvSpPr>
        <p:spPr>
          <a:xfrm xmlns:a="http://schemas.openxmlformats.org/drawingml/2006/main">
            <a:off x="723900" y="3333750"/>
            <a:ext cx="7620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71914"/>
                </a:solidFill>
                <a:latin typeface="Arial"/>
                <a:ea typeface="Arial"/>
                <a:cs typeface="Arial"/>
              </a:defRPr>
            </a:pPr>
            <a:r>
              <a:rPr sz="2700" b="0">
                <a:solidFill>
                  <a:srgbClr val="171914"/>
                </a:solidFill>
                <a:latin typeface="Arial"/>
                <a:ea typeface="Arial"/>
                <a:cs typeface="Arial"/>
              </a:rPr>
              <a:t>He spent 12 years at SpaceX.</a:t>
            </a:r>
          </a:p>
          <a:p xmlns:a="http://schemas.openxmlformats.org/drawingml/2006/main">
            <a:pPr>
              <a:defRPr sz="2700" b="0">
                <a:solidFill>
                  <a:srgbClr val="171914"/>
                </a:solidFill>
                <a:latin typeface="Arial"/>
                <a:ea typeface="Arial"/>
                <a:cs typeface="Arial"/>
              </a:defRPr>
            </a:pPr>
            <a:r>
              <a:rPr sz="2700" b="0">
                <a:solidFill>
                  <a:srgbClr val="171914"/>
                </a:solidFill>
                <a:latin typeface="Arial"/>
                <a:ea typeface="Arial"/>
                <a:cs typeface="Arial"/>
              </a:rPr>
              <a:t>We spent 12 minutes with his headshot.</a:t>
            </a:r>
          </a:p>
        </p:txBody>
      </p:sp>
      <p:sp>
        <p:nvSpPr>
          <p:cNvPr id="5" name="">
            <a:extLst xmlns:a="http://schemas.openxmlformats.org/drawingml/2006/main">
              <a:ext uri="{FF2B5EF4-FFF2-40B4-BE49-F238E27FC236}">
                <a16:creationId xmlns:a16="http://schemas.microsoft.com/office/drawing/2014/main" id="{F185AFC7-2C8D-42CE-B6A3-E43CAC2827DE}"/>
              </a:ext>
            </a:extLst>
          </p:cNvPr>
          <p:cNvSpPr>
            <a:spLocks xmlns:a="http://schemas.openxmlformats.org/drawingml/2006/main" noGrp="1"/>
          </p:cNvSpPr>
          <p:nvPr/>
        </p:nvSpPr>
        <p:spPr>
          <a:xfrm xmlns:a="http://schemas.openxmlformats.org/drawingml/2006/main">
            <a:off x="723900" y="54102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F6400"/>
                </a:solidFill>
                <a:latin typeface="Arial"/>
                <a:ea typeface="Arial"/>
                <a:cs typeface="Arial"/>
              </a:defRPr>
            </a:pPr>
            <a:r>
              <a:rPr sz="3675" b="1">
                <a:solidFill>
                  <a:srgbClr val="FF6400"/>
                </a:solidFill>
                <a:latin typeface="Arial"/>
                <a:ea typeface="Arial"/>
                <a:cs typeface="Arial"/>
              </a:rPr>
              <a:t>Due diligence complete.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cbe576506004f93"/>
          <a:stretch xmlns:a="http://schemas.openxmlformats.org/drawingml/2006/main"/>
        </p:blipFill>
        <p:spPr>
          <a:xfrm xmlns:a="http://schemas.openxmlformats.org/drawingml/2006/main">
            <a:off x="9201150" y="3333750"/>
            <a:ext cx="1657350" cy="1657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8D0ABF2-1067-4D6B-9932-8766F1001932}"/>
              </a:ext>
            </a:extLst>
          </p:cNvPr>
          <p:cNvSpPr>
            <a:spLocks xmlns:a="http://schemas.openxmlformats.org/drawingml/2006/main" noGrp="1"/>
          </p:cNvSpPr>
          <p:nvPr/>
        </p:nvSpPr>
        <p:spPr>
          <a:xfrm xmlns:a="http://schemas.openxmlformats.org/drawingml/2006/main">
            <a:off x="9105900" y="5086350"/>
            <a:ext cx="2419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1914"/>
                </a:solidFill>
                <a:latin typeface="Arial"/>
                <a:ea typeface="Arial"/>
                <a:cs typeface="Arial"/>
              </a:defRPr>
            </a:pPr>
            <a:r>
              <a:rPr sz="1575" b="1">
                <a:solidFill>
                  <a:srgbClr val="171914"/>
                </a:solidFill>
                <a:latin typeface="Arial"/>
                <a:ea typeface="Arial"/>
                <a:cs typeface="Arial"/>
              </a:rPr>
              <a:t>WILL HELTSLEY</a:t>
            </a:r>
          </a:p>
        </p:txBody>
      </p:sp>
    </p:spTree>
    <p:extLst>
      <p:ext uri="{BB962C8B-B14F-4D97-AF65-F5344CB8AC3E}">
        <p14:creationId xmlns:p14="http://schemas.microsoft.com/office/powerpoint/2010/main" val="450897040"/>
      </p:ext>
    </p:extLst>
  </p:cSld>
</p:sld>
</file>

<file path=ppt/slides/slide9.xml><?xml version="1.0" encoding="utf-8"?>
<p:sld xmlns:p="http://schemas.openxmlformats.org/presentationml/2006/main">
  <p:cSld>
    <p:bg>
      <p:bgPr>
        <a:solidFill xmlns:a="http://schemas.openxmlformats.org/drawingml/2006/main">
          <a:srgbClr val="FF640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7F4F3E-19AD-43F1-9089-4DC90571BF25}"/>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09</a:t>
            </a:r>
          </a:p>
        </p:txBody>
      </p:sp>
      <p:sp>
        <p:nvSpPr>
          <p:cNvPr id="2" name="">
            <a:extLst xmlns:a="http://schemas.openxmlformats.org/drawingml/2006/main">
              <a:ext uri="{FF2B5EF4-FFF2-40B4-BE49-F238E27FC236}">
                <a16:creationId xmlns:a16="http://schemas.microsoft.com/office/drawing/2014/main" id="{01A2CE84-409C-4633-8000-5D2C68402BE2}"/>
              </a:ext>
            </a:extLst>
          </p:cNvPr>
          <p:cNvSpPr>
            <a:spLocks xmlns:a="http://schemas.openxmlformats.org/drawingml/2006/main" noGrp="1"/>
          </p:cNvSpPr>
          <p:nvPr/>
        </p:nvSpPr>
        <p:spPr>
          <a:xfrm xmlns:a="http://schemas.openxmlformats.org/drawingml/2006/main">
            <a:off x="685800" y="542925"/>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171914"/>
                </a:solidFill>
                <a:latin typeface="Arial"/>
                <a:ea typeface="Arial"/>
                <a:cs typeface="Arial"/>
              </a:defRPr>
            </a:pPr>
            <a:r>
              <a:rPr sz="3975" b="1">
                <a:solidFill>
                  <a:srgbClr val="171914"/>
                </a:solidFill>
                <a:latin typeface="Arial"/>
                <a:ea typeface="Arial"/>
                <a:cs typeface="Arial"/>
              </a:rPr>
              <a:t>STOPLINK</a:t>
            </a:r>
          </a:p>
        </p:txBody>
      </p:sp>
      <p:sp>
        <p:nvSpPr>
          <p:cNvPr id="3" name="">
            <a:extLst xmlns:a="http://schemas.openxmlformats.org/drawingml/2006/main">
              <a:ext uri="{FF2B5EF4-FFF2-40B4-BE49-F238E27FC236}">
                <a16:creationId xmlns:a16="http://schemas.microsoft.com/office/drawing/2014/main" id="{492A97B7-8F63-4D43-941F-6E50B10F473B}"/>
              </a:ext>
            </a:extLst>
          </p:cNvPr>
          <p:cNvSpPr>
            <a:spLocks xmlns:a="http://schemas.openxmlformats.org/drawingml/2006/main" noGrp="1"/>
          </p:cNvSpPr>
          <p:nvPr/>
        </p:nvSpPr>
        <p:spPr>
          <a:xfrm xmlns:a="http://schemas.openxmlformats.org/drawingml/2006/main">
            <a:off x="619125" y="1704975"/>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Invest in dollars.</a:t>
            </a:r>
          </a:p>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Get returns</a:t>
            </a:r>
          </a:p>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in miles.</a:t>
            </a:r>
          </a:p>
        </p:txBody>
      </p:sp>
      <p:sp>
        <p:nvSpPr>
          <p:cNvPr id="4" name="">
            <a:extLst xmlns:a="http://schemas.openxmlformats.org/drawingml/2006/main">
              <a:ext uri="{FF2B5EF4-FFF2-40B4-BE49-F238E27FC236}">
                <a16:creationId xmlns:a16="http://schemas.microsoft.com/office/drawing/2014/main" id="{B1F3D126-851A-496C-902F-C897CC9259DA}"/>
              </a:ext>
            </a:extLst>
          </p:cNvPr>
          <p:cNvSpPr>
            <a:spLocks xmlns:a="http://schemas.openxmlformats.org/drawingml/2006/main" noGrp="1"/>
          </p:cNvSpPr>
          <p:nvPr/>
        </p:nvSpPr>
        <p:spPr>
          <a:xfrm xmlns:a="http://schemas.openxmlformats.org/drawingml/2006/main">
            <a:off x="723900" y="55530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1914"/>
                </a:solidFill>
                <a:latin typeface="Arial"/>
                <a:ea typeface="Arial"/>
                <a:cs typeface="Arial"/>
              </a:defRPr>
            </a:pPr>
            <a:r>
              <a:rPr sz="3000" b="0">
                <a:solidFill>
                  <a:srgbClr val="171914"/>
                </a:solidFill>
                <a:latin typeface="Arial"/>
                <a:ea typeface="Arial"/>
                <a:cs typeface="Arial"/>
              </a:rPr>
              <a:t>Subject to availability.</a:t>
            </a:r>
          </a:p>
        </p:txBody>
      </p:sp>
    </p:spTree>
    <p:extLst>
      <p:ext uri="{BB962C8B-B14F-4D97-AF65-F5344CB8AC3E}">
        <p14:creationId xmlns:p14="http://schemas.microsoft.com/office/powerpoint/2010/main" val="8359153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2026-09-20T04:39:19.4470000Z</dcterms:created>
  <dcterms:modified xsi:type="dcterms:W3CDTF">2026-09-20T04:39:19.4470000Z</dcterms:modified>
</coreProperties>
</file>